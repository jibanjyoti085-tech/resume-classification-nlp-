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5" r:id="rId2"/>
    <p:sldId id="258" r:id="rId3"/>
    <p:sldId id="295" r:id="rId4"/>
    <p:sldId id="276" r:id="rId5"/>
    <p:sldId id="259" r:id="rId6"/>
    <p:sldId id="296" r:id="rId7"/>
    <p:sldId id="256" r:id="rId8"/>
    <p:sldId id="277" r:id="rId9"/>
    <p:sldId id="266" r:id="rId10"/>
    <p:sldId id="265" r:id="rId11"/>
    <p:sldId id="284" r:id="rId12"/>
    <p:sldId id="285" r:id="rId13"/>
    <p:sldId id="286" r:id="rId14"/>
    <p:sldId id="297" r:id="rId15"/>
    <p:sldId id="262" r:id="rId16"/>
    <p:sldId id="290" r:id="rId17"/>
    <p:sldId id="294" r:id="rId18"/>
    <p:sldId id="298" r:id="rId19"/>
    <p:sldId id="291"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213" autoAdjust="0"/>
    <p:restoredTop sz="94660"/>
  </p:normalViewPr>
  <p:slideViewPr>
    <p:cSldViewPr snapToGrid="0">
      <p:cViewPr>
        <p:scale>
          <a:sx n="87" d="100"/>
          <a:sy n="87" d="100"/>
        </p:scale>
        <p:origin x="-115" y="-8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41A783B-0D00-46F5-A57F-D717B22D039F}" type="datetimeFigureOut">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136B77-84BD-4999-95F0-BA731C471E03}" type="slidenum">
              <a:rPr lang="en-IN" smtClean="0"/>
              <a:t>‹#›</a:t>
            </a:fld>
            <a:endParaRPr lang="en-IN"/>
          </a:p>
        </p:txBody>
      </p:sp>
    </p:spTree>
    <p:extLst>
      <p:ext uri="{BB962C8B-B14F-4D97-AF65-F5344CB8AC3E}">
        <p14:creationId xmlns:p14="http://schemas.microsoft.com/office/powerpoint/2010/main" val="28010241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41A783B-0D00-46F5-A57F-D717B22D039F}" type="datetimeFigureOut">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136B77-84BD-4999-95F0-BA731C471E03}" type="slidenum">
              <a:rPr lang="en-IN" smtClean="0"/>
              <a:t>‹#›</a:t>
            </a:fld>
            <a:endParaRPr lang="en-IN"/>
          </a:p>
        </p:txBody>
      </p:sp>
    </p:spTree>
    <p:extLst>
      <p:ext uri="{BB962C8B-B14F-4D97-AF65-F5344CB8AC3E}">
        <p14:creationId xmlns:p14="http://schemas.microsoft.com/office/powerpoint/2010/main" val="1061428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41A783B-0D00-46F5-A57F-D717B22D039F}" type="datetimeFigureOut">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136B77-84BD-4999-95F0-BA731C471E03}" type="slidenum">
              <a:rPr lang="en-IN" smtClean="0"/>
              <a:t>‹#›</a:t>
            </a:fld>
            <a:endParaRPr lang="en-IN"/>
          </a:p>
        </p:txBody>
      </p:sp>
    </p:spTree>
    <p:extLst>
      <p:ext uri="{BB962C8B-B14F-4D97-AF65-F5344CB8AC3E}">
        <p14:creationId xmlns:p14="http://schemas.microsoft.com/office/powerpoint/2010/main" val="1733429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41A783B-0D00-46F5-A57F-D717B22D039F}" type="datetimeFigureOut">
              <a:rPr lang="en-IN" smtClean="0"/>
              <a:t>05-12-2025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136B77-84BD-4999-95F0-BA731C471E03}" type="slidenum">
              <a:rPr lang="en-IN" smtClean="0"/>
              <a:t>‹#›</a:t>
            </a:fld>
            <a:endParaRPr lang="en-IN"/>
          </a:p>
        </p:txBody>
      </p:sp>
    </p:spTree>
    <p:extLst>
      <p:ext uri="{BB962C8B-B14F-4D97-AF65-F5344CB8AC3E}">
        <p14:creationId xmlns:p14="http://schemas.microsoft.com/office/powerpoint/2010/main" val="3911953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41A783B-0D00-46F5-A57F-D717B22D039F}" type="datetimeFigureOut">
              <a:rPr lang="en-IN" smtClean="0"/>
              <a:t>05-12-2025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F136B77-84BD-4999-95F0-BA731C471E03}" type="slidenum">
              <a:rPr lang="en-IN" smtClean="0"/>
              <a:t>‹#›</a:t>
            </a:fld>
            <a:endParaRPr lang="en-IN"/>
          </a:p>
        </p:txBody>
      </p:sp>
    </p:spTree>
    <p:extLst>
      <p:ext uri="{BB962C8B-B14F-4D97-AF65-F5344CB8AC3E}">
        <p14:creationId xmlns:p14="http://schemas.microsoft.com/office/powerpoint/2010/main" val="1678033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41A783B-0D00-46F5-A57F-D717B22D039F}" type="datetimeFigureOut">
              <a:rPr lang="en-IN" smtClean="0"/>
              <a:t>05-12-2025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F136B77-84BD-4999-95F0-BA731C471E03}" type="slidenum">
              <a:rPr lang="en-IN" smtClean="0"/>
              <a:t>‹#›</a:t>
            </a:fld>
            <a:endParaRPr lang="en-IN"/>
          </a:p>
        </p:txBody>
      </p:sp>
    </p:spTree>
    <p:extLst>
      <p:ext uri="{BB962C8B-B14F-4D97-AF65-F5344CB8AC3E}">
        <p14:creationId xmlns:p14="http://schemas.microsoft.com/office/powerpoint/2010/main" val="3244882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1A783B-0D00-46F5-A57F-D717B22D039F}" type="datetimeFigureOut">
              <a:rPr lang="en-IN" smtClean="0"/>
              <a:t>05-12-2025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F136B77-84BD-4999-95F0-BA731C471E03}" type="slidenum">
              <a:rPr lang="en-IN" smtClean="0"/>
              <a:t>‹#›</a:t>
            </a:fld>
            <a:endParaRPr lang="en-IN"/>
          </a:p>
        </p:txBody>
      </p:sp>
    </p:spTree>
    <p:extLst>
      <p:ext uri="{BB962C8B-B14F-4D97-AF65-F5344CB8AC3E}">
        <p14:creationId xmlns:p14="http://schemas.microsoft.com/office/powerpoint/2010/main" val="4004652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41A783B-0D00-46F5-A57F-D717B22D039F}" type="datetimeFigureOut">
              <a:rPr lang="en-IN" smtClean="0"/>
              <a:t>05-12-2025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136B77-84BD-4999-95F0-BA731C471E03}" type="slidenum">
              <a:rPr lang="en-IN" smtClean="0"/>
              <a:t>‹#›</a:t>
            </a:fld>
            <a:endParaRPr lang="en-IN"/>
          </a:p>
        </p:txBody>
      </p:sp>
    </p:spTree>
    <p:extLst>
      <p:ext uri="{BB962C8B-B14F-4D97-AF65-F5344CB8AC3E}">
        <p14:creationId xmlns:p14="http://schemas.microsoft.com/office/powerpoint/2010/main" val="837672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1A783B-0D00-46F5-A57F-D717B22D039F}" type="datetimeFigureOut">
              <a:rPr lang="en-IN" smtClean="0"/>
              <a:t>05-12-2025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136B77-84BD-4999-95F0-BA731C471E03}" type="slidenum">
              <a:rPr lang="en-IN" smtClean="0"/>
              <a:t>‹#›</a:t>
            </a:fld>
            <a:endParaRPr lang="en-IN"/>
          </a:p>
        </p:txBody>
      </p:sp>
    </p:spTree>
    <p:extLst>
      <p:ext uri="{BB962C8B-B14F-4D97-AF65-F5344CB8AC3E}">
        <p14:creationId xmlns:p14="http://schemas.microsoft.com/office/powerpoint/2010/main" val="936570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41A783B-0D00-46F5-A57F-D717B22D039F}" type="datetimeFigureOut">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136B77-84BD-4999-95F0-BA731C471E03}" type="slidenum">
              <a:rPr lang="en-IN" smtClean="0"/>
              <a:t>‹#›</a:t>
            </a:fld>
            <a:endParaRPr lang="en-IN"/>
          </a:p>
        </p:txBody>
      </p:sp>
    </p:spTree>
    <p:extLst>
      <p:ext uri="{BB962C8B-B14F-4D97-AF65-F5344CB8AC3E}">
        <p14:creationId xmlns:p14="http://schemas.microsoft.com/office/powerpoint/2010/main" val="35791183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41A783B-0D00-46F5-A57F-D717B22D039F}" type="datetimeFigureOut">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136B77-84BD-4999-95F0-BA731C471E03}"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0512693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41A783B-0D00-46F5-A57F-D717B22D039F}" type="datetimeFigureOut">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136B77-84BD-4999-95F0-BA731C471E03}" type="slidenum">
              <a:rPr lang="en-IN" smtClean="0"/>
              <a:t>‹#›</a:t>
            </a:fld>
            <a:endParaRPr lang="en-IN"/>
          </a:p>
        </p:txBody>
      </p:sp>
    </p:spTree>
    <p:extLst>
      <p:ext uri="{BB962C8B-B14F-4D97-AF65-F5344CB8AC3E}">
        <p14:creationId xmlns:p14="http://schemas.microsoft.com/office/powerpoint/2010/main" val="5915744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41A783B-0D00-46F5-A57F-D717B22D039F}" type="datetimeFigureOut">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136B77-84BD-4999-95F0-BA731C471E03}"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657617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41A783B-0D00-46F5-A57F-D717B22D039F}" type="datetimeFigureOut">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136B77-84BD-4999-95F0-BA731C471E03}" type="slidenum">
              <a:rPr lang="en-IN" smtClean="0"/>
              <a:t>‹#›</a:t>
            </a:fld>
            <a:endParaRPr lang="en-IN"/>
          </a:p>
        </p:txBody>
      </p:sp>
    </p:spTree>
    <p:extLst>
      <p:ext uri="{BB962C8B-B14F-4D97-AF65-F5344CB8AC3E}">
        <p14:creationId xmlns:p14="http://schemas.microsoft.com/office/powerpoint/2010/main" val="23586213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41A783B-0D00-46F5-A57F-D717B22D039F}" type="datetimeFigureOut">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136B77-84BD-4999-95F0-BA731C471E03}" type="slidenum">
              <a:rPr lang="en-IN" smtClean="0"/>
              <a:t>‹#›</a:t>
            </a:fld>
            <a:endParaRPr lang="en-IN"/>
          </a:p>
        </p:txBody>
      </p:sp>
    </p:spTree>
    <p:extLst>
      <p:ext uri="{BB962C8B-B14F-4D97-AF65-F5344CB8AC3E}">
        <p14:creationId xmlns:p14="http://schemas.microsoft.com/office/powerpoint/2010/main" val="40579659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41A783B-0D00-46F5-A57F-D717B22D039F}" type="datetimeFigureOut">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136B77-84BD-4999-95F0-BA731C471E03}" type="slidenum">
              <a:rPr lang="en-IN" smtClean="0"/>
              <a:t>‹#›</a:t>
            </a:fld>
            <a:endParaRPr lang="en-IN"/>
          </a:p>
        </p:txBody>
      </p:sp>
    </p:spTree>
    <p:extLst>
      <p:ext uri="{BB962C8B-B14F-4D97-AF65-F5344CB8AC3E}">
        <p14:creationId xmlns:p14="http://schemas.microsoft.com/office/powerpoint/2010/main" val="26433276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41A783B-0D00-46F5-A57F-D717B22D039F}" type="datetimeFigureOut">
              <a:rPr lang="en-IN" smtClean="0"/>
              <a:t>05-12-2025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F136B77-84BD-4999-95F0-BA731C471E03}" type="slidenum">
              <a:rPr lang="en-IN" smtClean="0"/>
              <a:t>‹#›</a:t>
            </a:fld>
            <a:endParaRPr lang="en-IN"/>
          </a:p>
        </p:txBody>
      </p:sp>
    </p:spTree>
    <p:extLst>
      <p:ext uri="{BB962C8B-B14F-4D97-AF65-F5344CB8AC3E}">
        <p14:creationId xmlns:p14="http://schemas.microsoft.com/office/powerpoint/2010/main" val="6209552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B5A84914-6188-F27A-FFD7-ED876B615D03}"/>
              </a:ext>
            </a:extLst>
          </p:cNvPr>
          <p:cNvSpPr txBox="1"/>
          <p:nvPr/>
        </p:nvSpPr>
        <p:spPr>
          <a:xfrm>
            <a:off x="1085851" y="286611"/>
            <a:ext cx="9160452" cy="523220"/>
          </a:xfrm>
          <a:prstGeom prst="rect">
            <a:avLst/>
          </a:prstGeom>
          <a:noFill/>
        </p:spPr>
        <p:txBody>
          <a:bodyPr wrap="square">
            <a:spAutoFit/>
          </a:bodyPr>
          <a:lstStyle/>
          <a:p>
            <a:pPr algn="ctr"/>
            <a:r>
              <a:rPr lang="en-US" sz="2800" cap="none" spc="0" dirty="0">
                <a:ln w="0"/>
                <a:solidFill>
                  <a:schemeClr val="tx1"/>
                </a:solidFill>
                <a:effectLst>
                  <a:outerShdw blurRad="38100" dist="19050" dir="2700000" algn="tl" rotWithShape="0">
                    <a:schemeClr val="dk1">
                      <a:alpha val="40000"/>
                    </a:schemeClr>
                  </a:outerShdw>
                </a:effectLst>
                <a:latin typeface="Algerian" panose="04020705040A02060702" pitchFamily="82" charset="0"/>
              </a:rPr>
              <a:t>RESUME CLASSIFICA</a:t>
            </a:r>
            <a:r>
              <a:rPr lang="en-US" sz="2800" dirty="0">
                <a:ln w="0"/>
                <a:effectLst>
                  <a:outerShdw blurRad="38100" dist="19050" dir="2700000" algn="tl" rotWithShape="0">
                    <a:schemeClr val="dk1">
                      <a:alpha val="40000"/>
                    </a:schemeClr>
                  </a:outerShdw>
                </a:effectLst>
                <a:latin typeface="Algerian" panose="04020705040A02060702" pitchFamily="82" charset="0"/>
              </a:rPr>
              <a:t>TION USING NLP and ML </a:t>
            </a:r>
            <a:endParaRPr lang="en-US" sz="2800" cap="none" spc="0" dirty="0">
              <a:ln w="0"/>
              <a:solidFill>
                <a:schemeClr val="tx1"/>
              </a:solidFill>
              <a:effectLst>
                <a:outerShdw blurRad="38100" dist="19050" dir="2700000" algn="tl" rotWithShape="0">
                  <a:schemeClr val="dk1">
                    <a:alpha val="40000"/>
                  </a:schemeClr>
                </a:outerShdw>
              </a:effectLst>
              <a:latin typeface="Algerian" panose="04020705040A02060702" pitchFamily="82" charset="0"/>
            </a:endParaRPr>
          </a:p>
        </p:txBody>
      </p:sp>
      <p:sp>
        <p:nvSpPr>
          <p:cNvPr id="9" name="TextBox 8">
            <a:extLst>
              <a:ext uri="{FF2B5EF4-FFF2-40B4-BE49-F238E27FC236}">
                <a16:creationId xmlns:a16="http://schemas.microsoft.com/office/drawing/2014/main" xmlns="" id="{ECD9DC20-8C22-F628-BC98-F24CD21BFE01}"/>
              </a:ext>
            </a:extLst>
          </p:cNvPr>
          <p:cNvSpPr txBox="1"/>
          <p:nvPr/>
        </p:nvSpPr>
        <p:spPr>
          <a:xfrm>
            <a:off x="54549" y="5135853"/>
            <a:ext cx="3381377" cy="1600438"/>
          </a:xfrm>
          <a:prstGeom prst="rect">
            <a:avLst/>
          </a:prstGeom>
          <a:noFill/>
        </p:spPr>
        <p:txBody>
          <a:bodyPr wrap="square" rtlCol="0">
            <a:spAutoFit/>
          </a:bodyPr>
          <a:lstStyle/>
          <a:p>
            <a:r>
              <a:rPr lang="en-US" sz="1400" b="1" i="0" dirty="0">
                <a:solidFill>
                  <a:schemeClr val="accent6">
                    <a:lumMod val="50000"/>
                  </a:schemeClr>
                </a:solidFill>
                <a:effectLst/>
                <a:latin typeface="Calibri" panose="020F0502020204030204" pitchFamily="34" charset="0"/>
              </a:rPr>
              <a:t>Team Members</a:t>
            </a:r>
          </a:p>
          <a:p>
            <a:pPr marL="285750" indent="-285750">
              <a:buFont typeface="Arial" panose="020B0604020202020204" pitchFamily="34" charset="0"/>
              <a:buChar char="•"/>
            </a:pPr>
            <a:r>
              <a:rPr lang="en-US" sz="1400" b="0" i="0" dirty="0">
                <a:solidFill>
                  <a:schemeClr val="accent6">
                    <a:lumMod val="50000"/>
                  </a:schemeClr>
                </a:solidFill>
                <a:effectLst/>
                <a:latin typeface="Calibri" panose="020F0502020204030204" pitchFamily="34" charset="0"/>
              </a:rPr>
              <a:t>E . Jaya Prakash </a:t>
            </a:r>
            <a:r>
              <a:rPr lang="en-US" sz="1400" b="0" i="0" dirty="0" err="1">
                <a:solidFill>
                  <a:schemeClr val="accent6">
                    <a:lumMod val="50000"/>
                  </a:schemeClr>
                </a:solidFill>
                <a:effectLst/>
                <a:latin typeface="Calibri" panose="020F0502020204030204" pitchFamily="34" charset="0"/>
              </a:rPr>
              <a:t>NarayanaRao</a:t>
            </a:r>
            <a:endParaRPr lang="en-US" sz="1400" b="0" i="0" dirty="0">
              <a:solidFill>
                <a:schemeClr val="accent6">
                  <a:lumMod val="50000"/>
                </a:schemeClr>
              </a:solidFill>
              <a:effectLst/>
              <a:latin typeface="Calibri" panose="020F0502020204030204" pitchFamily="34" charset="0"/>
            </a:endParaRPr>
          </a:p>
          <a:p>
            <a:pPr marL="285750" indent="-285750">
              <a:buFont typeface="Arial" panose="020B0604020202020204" pitchFamily="34" charset="0"/>
              <a:buChar char="•"/>
            </a:pPr>
            <a:r>
              <a:rPr lang="en-US" sz="1400" b="0" i="0" dirty="0">
                <a:solidFill>
                  <a:schemeClr val="accent6">
                    <a:lumMod val="50000"/>
                  </a:schemeClr>
                </a:solidFill>
                <a:effectLst/>
                <a:latin typeface="Calibri" panose="020F0502020204030204" pitchFamily="34" charset="0"/>
              </a:rPr>
              <a:t>SHAIK ZABRULLA BASHA</a:t>
            </a:r>
          </a:p>
          <a:p>
            <a:pPr marL="285750" indent="-285750">
              <a:buFont typeface="Arial" panose="020B0604020202020204" pitchFamily="34" charset="0"/>
              <a:buChar char="•"/>
            </a:pPr>
            <a:r>
              <a:rPr lang="en-US" sz="1400" b="0" i="0" dirty="0">
                <a:solidFill>
                  <a:schemeClr val="accent6">
                    <a:lumMod val="50000"/>
                  </a:schemeClr>
                </a:solidFill>
                <a:effectLst/>
                <a:latin typeface="Calibri" panose="020F0502020204030204" pitchFamily="34" charset="0"/>
              </a:rPr>
              <a:t>Jiban Jyoti Das</a:t>
            </a:r>
          </a:p>
          <a:p>
            <a:pPr marL="285750" indent="-285750">
              <a:buFont typeface="Arial" panose="020B0604020202020204" pitchFamily="34" charset="0"/>
              <a:buChar char="•"/>
            </a:pPr>
            <a:r>
              <a:rPr lang="en-US" sz="1400" b="0" i="0" dirty="0">
                <a:solidFill>
                  <a:schemeClr val="accent6">
                    <a:lumMod val="50000"/>
                  </a:schemeClr>
                </a:solidFill>
                <a:effectLst/>
                <a:latin typeface="Calibri" panose="020F0502020204030204" pitchFamily="34" charset="0"/>
              </a:rPr>
              <a:t>Falak Hashmi</a:t>
            </a:r>
          </a:p>
          <a:p>
            <a:pPr marL="285750" indent="-285750">
              <a:buFont typeface="Arial" panose="020B0604020202020204" pitchFamily="34" charset="0"/>
              <a:buChar char="•"/>
            </a:pPr>
            <a:r>
              <a:rPr lang="en-US" sz="1400" b="0" i="0" dirty="0" err="1">
                <a:solidFill>
                  <a:schemeClr val="accent6">
                    <a:lumMod val="50000"/>
                  </a:schemeClr>
                </a:solidFill>
                <a:effectLst/>
                <a:latin typeface="Calibri" panose="020F0502020204030204" pitchFamily="34" charset="0"/>
              </a:rPr>
              <a:t>Kowmudi</a:t>
            </a:r>
            <a:r>
              <a:rPr lang="en-US" sz="1400" b="0" i="0" dirty="0">
                <a:solidFill>
                  <a:schemeClr val="accent6">
                    <a:lumMod val="50000"/>
                  </a:schemeClr>
                </a:solidFill>
                <a:effectLst/>
                <a:latin typeface="Calibri" panose="020F0502020204030204" pitchFamily="34" charset="0"/>
              </a:rPr>
              <a:t> Chavali</a:t>
            </a:r>
          </a:p>
          <a:p>
            <a:pPr marL="285750" indent="-285750">
              <a:buFont typeface="Arial" panose="020B0604020202020204" pitchFamily="34" charset="0"/>
              <a:buChar char="•"/>
            </a:pPr>
            <a:r>
              <a:rPr lang="en-US" sz="1400" b="0" i="0" dirty="0">
                <a:solidFill>
                  <a:schemeClr val="accent6">
                    <a:lumMod val="50000"/>
                  </a:schemeClr>
                </a:solidFill>
                <a:effectLst/>
                <a:latin typeface="Calibri" panose="020F0502020204030204" pitchFamily="34" charset="0"/>
              </a:rPr>
              <a:t>Muskan Doddamani</a:t>
            </a:r>
          </a:p>
        </p:txBody>
      </p:sp>
      <p:pic>
        <p:nvPicPr>
          <p:cNvPr id="4104" name="Picture 8" descr="What is Resume Parsing? HireAbility Resume and Job Parsing Solutions.">
            <a:extLst>
              <a:ext uri="{FF2B5EF4-FFF2-40B4-BE49-F238E27FC236}">
                <a16:creationId xmlns:a16="http://schemas.microsoft.com/office/drawing/2014/main" xmlns="" id="{874B3939-2BEE-5C07-432C-774DB66812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5237" y="1233826"/>
            <a:ext cx="8354924" cy="36334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7037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xmlns="" id="{0F88A752-F43E-0369-8B56-E11B2AC4254C}"/>
              </a:ext>
            </a:extLst>
          </p:cNvPr>
          <p:cNvSpPr/>
          <p:nvPr/>
        </p:nvSpPr>
        <p:spPr>
          <a:xfrm>
            <a:off x="266037" y="261621"/>
            <a:ext cx="7892497" cy="1007342"/>
          </a:xfrm>
          <a:prstGeom prst="roundRect">
            <a:avLst/>
          </a:prstGeom>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en-US" sz="3600" dirty="0">
                <a:solidFill>
                  <a:schemeClr val="tx1"/>
                </a:solidFill>
                <a:latin typeface="Algerian" panose="04020705040A02060702" pitchFamily="82" charset="0"/>
              </a:rPr>
              <a:t>Business Objective</a:t>
            </a:r>
            <a:endParaRPr lang="en-IN" sz="3600" dirty="0">
              <a:solidFill>
                <a:schemeClr val="tx1"/>
              </a:solidFill>
              <a:latin typeface="Algerian" panose="04020705040A02060702" pitchFamily="82" charset="0"/>
            </a:endParaRPr>
          </a:p>
        </p:txBody>
      </p:sp>
      <p:sp>
        <p:nvSpPr>
          <p:cNvPr id="6" name="TextBox 5">
            <a:extLst>
              <a:ext uri="{FF2B5EF4-FFF2-40B4-BE49-F238E27FC236}">
                <a16:creationId xmlns:a16="http://schemas.microsoft.com/office/drawing/2014/main" xmlns="" id="{2B666658-8984-FAB3-6C57-41FD24752FC1}"/>
              </a:ext>
            </a:extLst>
          </p:cNvPr>
          <p:cNvSpPr txBox="1"/>
          <p:nvPr/>
        </p:nvSpPr>
        <p:spPr>
          <a:xfrm>
            <a:off x="266037" y="1718131"/>
            <a:ext cx="9335163" cy="5139869"/>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 Resume classification solution should significantly reduce the manual human effort in the HRM .It should achieve a higher level of accuracy and automation with minimal human intervention.</a:t>
            </a:r>
          </a:p>
          <a:p>
            <a:endParaRPr lang="en-US" sz="2000" dirty="0">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 manual effort in resume screening.</a:t>
            </a: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Automatically classify resumes by job role.</a:t>
            </a: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Achieve high accuracy with minimal human intervention.</a:t>
            </a: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accuracy and minimize human involvement.</a:t>
            </a: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Streamline the recruitment process using machine learning.</a:t>
            </a: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dirty="0">
              <a:ln w="0"/>
              <a:solidFill>
                <a:schemeClr val="accent6">
                  <a:lumMod val="50000"/>
                </a:schemeClr>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628665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655AC8B-C02C-CFBB-846E-45393586C84B}"/>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xmlns="" id="{89BFEF8C-1AE6-E5ED-67B8-13C91D4C044A}"/>
              </a:ext>
            </a:extLst>
          </p:cNvPr>
          <p:cNvSpPr/>
          <p:nvPr/>
        </p:nvSpPr>
        <p:spPr>
          <a:xfrm>
            <a:off x="266037" y="261621"/>
            <a:ext cx="7892497" cy="904706"/>
          </a:xfrm>
          <a:prstGeom prst="roundRect">
            <a:avLst/>
          </a:prstGeom>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en-US" sz="3600" dirty="0">
                <a:solidFill>
                  <a:schemeClr val="tx1"/>
                </a:solidFill>
                <a:latin typeface="Algerian" panose="04020705040A02060702" pitchFamily="82" charset="0"/>
              </a:rPr>
              <a:t>ABSTRACT</a:t>
            </a:r>
            <a:endParaRPr lang="en-IN" sz="3600" dirty="0">
              <a:solidFill>
                <a:schemeClr val="tx1"/>
              </a:solidFill>
              <a:latin typeface="Algerian" panose="04020705040A02060702" pitchFamily="82" charset="0"/>
            </a:endParaRPr>
          </a:p>
        </p:txBody>
      </p:sp>
      <p:sp>
        <p:nvSpPr>
          <p:cNvPr id="13" name="TextBox 12">
            <a:extLst>
              <a:ext uri="{FF2B5EF4-FFF2-40B4-BE49-F238E27FC236}">
                <a16:creationId xmlns:a16="http://schemas.microsoft.com/office/drawing/2014/main" xmlns="" id="{FCFF71FC-3427-E583-7BAC-50396D7FD1EE}"/>
              </a:ext>
            </a:extLst>
          </p:cNvPr>
          <p:cNvSpPr txBox="1"/>
          <p:nvPr/>
        </p:nvSpPr>
        <p:spPr>
          <a:xfrm>
            <a:off x="195942" y="1494838"/>
            <a:ext cx="9395926" cy="4197559"/>
          </a:xfrm>
          <a:prstGeom prst="rect">
            <a:avLst/>
          </a:prstGeom>
          <a:noFill/>
        </p:spPr>
        <p:txBody>
          <a:bodyPr wrap="square">
            <a:spAutoFit/>
          </a:bodyPr>
          <a:lstStyle/>
          <a:p>
            <a:pPr marL="12700" marR="5080" algn="just">
              <a:lnSpc>
                <a:spcPct val="150000"/>
              </a:lnSpc>
              <a:spcBef>
                <a:spcPts val="100"/>
              </a:spcBef>
            </a:pPr>
            <a:r>
              <a:rPr lang="en-US" sz="1800" dirty="0">
                <a:latin typeface="Times New Roman" panose="02020603050405020304" pitchFamily="18" charset="0"/>
                <a:cs typeface="Times New Roman" panose="02020603050405020304" pitchFamily="18" charset="0"/>
              </a:rPr>
              <a:t>This project presents an automated solution for resume classification using Natural Language Processing (NLP) and Machine Learning (ML) techniques. The system processes resumes, extracts key textual features using TF-IDF and </a:t>
            </a:r>
            <a:r>
              <a:rPr lang="en-US" sz="1800" dirty="0" err="1">
                <a:latin typeface="Times New Roman" panose="02020603050405020304" pitchFamily="18" charset="0"/>
                <a:cs typeface="Times New Roman" panose="02020603050405020304" pitchFamily="18" charset="0"/>
              </a:rPr>
              <a:t>CountVectorizer</a:t>
            </a:r>
            <a:r>
              <a:rPr lang="en-US" sz="1800" dirty="0">
                <a:latin typeface="Times New Roman" panose="02020603050405020304" pitchFamily="18" charset="0"/>
                <a:cs typeface="Times New Roman" panose="02020603050405020304" pitchFamily="18" charset="0"/>
              </a:rPr>
              <a:t>, and applies ML algorithms such as Logistic Regression, Naive Bayes, and SVM to categorize resumes into predefined job roles. This improves accuracy and reduces manual effort in HR screening, enhancing recruitment automation.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 dataset consists of resumes labeled into multiple job categories, enabling supervised learning. Various text cleaning and preprocessing techniques were applied to ensure high-quality feature extraction. The models were evaluated using metrics like accuracy, F1-score, and confusion matrix to ensure robust performance. This approach not only speeds up candidate filtering but also provides scalable and intelligent support for HR decision-making.</a:t>
            </a:r>
          </a:p>
        </p:txBody>
      </p:sp>
    </p:spTree>
    <p:extLst>
      <p:ext uri="{BB962C8B-B14F-4D97-AF65-F5344CB8AC3E}">
        <p14:creationId xmlns:p14="http://schemas.microsoft.com/office/powerpoint/2010/main" val="4056715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xmlns="" id="{7690900D-4568-5162-AE2C-1D9C9907372F}"/>
              </a:ext>
            </a:extLst>
          </p:cNvPr>
          <p:cNvSpPr/>
          <p:nvPr/>
        </p:nvSpPr>
        <p:spPr>
          <a:xfrm>
            <a:off x="266037" y="1542391"/>
            <a:ext cx="2385392" cy="1369296"/>
          </a:xfrm>
          <a:prstGeom prst="roundRect">
            <a:avLst/>
          </a:prstGeom>
          <a:solidFill>
            <a:schemeClr val="tx1"/>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400" dirty="0">
                <a:latin typeface="Century Schoolbook" panose="02040604050505020304" pitchFamily="18" charset="0"/>
              </a:rPr>
              <a:t>Collection of Data</a:t>
            </a:r>
            <a:endParaRPr lang="en-IN" sz="2400" dirty="0">
              <a:latin typeface="Century Schoolbook" panose="02040604050505020304" pitchFamily="18" charset="0"/>
            </a:endParaRPr>
          </a:p>
        </p:txBody>
      </p:sp>
      <p:sp>
        <p:nvSpPr>
          <p:cNvPr id="5" name="Rectangle: Rounded Corners 4">
            <a:extLst>
              <a:ext uri="{FF2B5EF4-FFF2-40B4-BE49-F238E27FC236}">
                <a16:creationId xmlns:a16="http://schemas.microsoft.com/office/drawing/2014/main" xmlns="" id="{29A3DDBC-E483-1902-F23C-1D9FC4D2EAF1}"/>
              </a:ext>
            </a:extLst>
          </p:cNvPr>
          <p:cNvSpPr/>
          <p:nvPr/>
        </p:nvSpPr>
        <p:spPr>
          <a:xfrm>
            <a:off x="4376365" y="1524321"/>
            <a:ext cx="2570459" cy="1369296"/>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Century Schoolbook" panose="02040604050505020304" pitchFamily="18" charset="0"/>
              </a:rPr>
              <a:t>Business Understanding</a:t>
            </a:r>
            <a:endParaRPr lang="en-IN" sz="2400" dirty="0">
              <a:latin typeface="Century Schoolbook" panose="02040604050505020304" pitchFamily="18" charset="0"/>
            </a:endParaRPr>
          </a:p>
        </p:txBody>
      </p:sp>
      <p:sp>
        <p:nvSpPr>
          <p:cNvPr id="6" name="Rectangle: Rounded Corners 5">
            <a:extLst>
              <a:ext uri="{FF2B5EF4-FFF2-40B4-BE49-F238E27FC236}">
                <a16:creationId xmlns:a16="http://schemas.microsoft.com/office/drawing/2014/main" xmlns="" id="{2677D268-59AC-2676-CA8B-5BFA7736E39D}"/>
              </a:ext>
            </a:extLst>
          </p:cNvPr>
          <p:cNvSpPr/>
          <p:nvPr/>
        </p:nvSpPr>
        <p:spPr>
          <a:xfrm>
            <a:off x="8704706" y="1524321"/>
            <a:ext cx="2760030" cy="1401417"/>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Century Schoolbook" panose="02040604050505020304" pitchFamily="18" charset="0"/>
              </a:rPr>
              <a:t>Exploratory Data Analysis(EDA)</a:t>
            </a:r>
            <a:endParaRPr lang="en-IN" sz="2400" dirty="0">
              <a:latin typeface="Century Schoolbook" panose="02040604050505020304" pitchFamily="18" charset="0"/>
            </a:endParaRPr>
          </a:p>
        </p:txBody>
      </p:sp>
      <p:sp>
        <p:nvSpPr>
          <p:cNvPr id="7" name="Rectangle: Rounded Corners 6">
            <a:extLst>
              <a:ext uri="{FF2B5EF4-FFF2-40B4-BE49-F238E27FC236}">
                <a16:creationId xmlns:a16="http://schemas.microsoft.com/office/drawing/2014/main" xmlns="" id="{033E3B9F-0E62-654D-89F2-180B186A721D}"/>
              </a:ext>
            </a:extLst>
          </p:cNvPr>
          <p:cNvSpPr/>
          <p:nvPr/>
        </p:nvSpPr>
        <p:spPr>
          <a:xfrm>
            <a:off x="4488337" y="3964384"/>
            <a:ext cx="2458488" cy="136929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Century Schoolbook" panose="02040604050505020304" pitchFamily="18" charset="0"/>
              </a:rPr>
              <a:t>Deployment</a:t>
            </a:r>
            <a:endParaRPr lang="en-IN" sz="2800" dirty="0">
              <a:latin typeface="Century Schoolbook" panose="02040604050505020304" pitchFamily="18" charset="0"/>
            </a:endParaRPr>
          </a:p>
        </p:txBody>
      </p:sp>
      <p:sp>
        <p:nvSpPr>
          <p:cNvPr id="8" name="Rectangle: Rounded Corners 7">
            <a:extLst>
              <a:ext uri="{FF2B5EF4-FFF2-40B4-BE49-F238E27FC236}">
                <a16:creationId xmlns:a16="http://schemas.microsoft.com/office/drawing/2014/main" xmlns="" id="{5C45D35B-9439-43C7-63D4-A24D32BF344A}"/>
              </a:ext>
            </a:extLst>
          </p:cNvPr>
          <p:cNvSpPr/>
          <p:nvPr/>
        </p:nvSpPr>
        <p:spPr>
          <a:xfrm>
            <a:off x="8906734" y="3964384"/>
            <a:ext cx="2558002" cy="1401417"/>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Century Schoolbook" panose="02040604050505020304" pitchFamily="18" charset="0"/>
              </a:rPr>
              <a:t>Model Building</a:t>
            </a:r>
            <a:endParaRPr lang="en-IN" sz="2400" dirty="0">
              <a:latin typeface="Century Schoolbook" panose="02040604050505020304" pitchFamily="18" charset="0"/>
            </a:endParaRPr>
          </a:p>
        </p:txBody>
      </p:sp>
      <p:sp>
        <p:nvSpPr>
          <p:cNvPr id="9" name="Arrow: Right 8">
            <a:extLst>
              <a:ext uri="{FF2B5EF4-FFF2-40B4-BE49-F238E27FC236}">
                <a16:creationId xmlns:a16="http://schemas.microsoft.com/office/drawing/2014/main" xmlns="" id="{45163497-C43B-1E75-14A7-63577EB58C37}"/>
              </a:ext>
            </a:extLst>
          </p:cNvPr>
          <p:cNvSpPr/>
          <p:nvPr/>
        </p:nvSpPr>
        <p:spPr>
          <a:xfrm>
            <a:off x="3005167" y="1966653"/>
            <a:ext cx="978408" cy="48463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Arrow: Right 9">
            <a:extLst>
              <a:ext uri="{FF2B5EF4-FFF2-40B4-BE49-F238E27FC236}">
                <a16:creationId xmlns:a16="http://schemas.microsoft.com/office/drawing/2014/main" xmlns="" id="{858364F4-CAB9-CF31-9DF3-8F80833EC397}"/>
              </a:ext>
            </a:extLst>
          </p:cNvPr>
          <p:cNvSpPr/>
          <p:nvPr/>
        </p:nvSpPr>
        <p:spPr>
          <a:xfrm>
            <a:off x="7371185" y="1996924"/>
            <a:ext cx="978408" cy="48463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Arrow: Down 10">
            <a:extLst>
              <a:ext uri="{FF2B5EF4-FFF2-40B4-BE49-F238E27FC236}">
                <a16:creationId xmlns:a16="http://schemas.microsoft.com/office/drawing/2014/main" xmlns="" id="{E9C64D48-233C-E849-4750-D2A29526EB66}"/>
              </a:ext>
            </a:extLst>
          </p:cNvPr>
          <p:cNvSpPr/>
          <p:nvPr/>
        </p:nvSpPr>
        <p:spPr>
          <a:xfrm>
            <a:off x="10084721" y="3062008"/>
            <a:ext cx="484632" cy="707559"/>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Left 11">
            <a:extLst>
              <a:ext uri="{FF2B5EF4-FFF2-40B4-BE49-F238E27FC236}">
                <a16:creationId xmlns:a16="http://schemas.microsoft.com/office/drawing/2014/main" xmlns="" id="{23299B5E-CD8F-9AFF-AEFB-60A36B0CA001}"/>
              </a:ext>
            </a:extLst>
          </p:cNvPr>
          <p:cNvSpPr/>
          <p:nvPr/>
        </p:nvSpPr>
        <p:spPr>
          <a:xfrm>
            <a:off x="7371185" y="4164399"/>
            <a:ext cx="978408" cy="48463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Rounded Corners 1">
            <a:extLst>
              <a:ext uri="{FF2B5EF4-FFF2-40B4-BE49-F238E27FC236}">
                <a16:creationId xmlns:a16="http://schemas.microsoft.com/office/drawing/2014/main" xmlns="" id="{219D903A-C160-C664-2E0E-92C09F1D69D3}"/>
              </a:ext>
            </a:extLst>
          </p:cNvPr>
          <p:cNvSpPr/>
          <p:nvPr/>
        </p:nvSpPr>
        <p:spPr>
          <a:xfrm>
            <a:off x="266037" y="261620"/>
            <a:ext cx="7892497" cy="988681"/>
          </a:xfrm>
          <a:prstGeom prst="roundRect">
            <a:avLst/>
          </a:prstGeom>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en-US" sz="3600">
                <a:solidFill>
                  <a:schemeClr val="tx1"/>
                </a:solidFill>
                <a:latin typeface="Algerian" panose="04020705040A02060702" pitchFamily="82" charset="0"/>
              </a:rPr>
              <a:t>Project Architecture</a:t>
            </a:r>
            <a:endParaRPr lang="en-IN" sz="3600" dirty="0">
              <a:solidFill>
                <a:schemeClr val="tx1"/>
              </a:solidFill>
              <a:latin typeface="Algerian" panose="04020705040A02060702" pitchFamily="82" charset="0"/>
            </a:endParaRPr>
          </a:p>
        </p:txBody>
      </p:sp>
    </p:spTree>
    <p:extLst>
      <p:ext uri="{BB962C8B-B14F-4D97-AF65-F5344CB8AC3E}">
        <p14:creationId xmlns:p14="http://schemas.microsoft.com/office/powerpoint/2010/main" val="4216353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xmlns="" id="{CA6E6A91-50A7-4F50-A9C6-E11B91B9739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02493" y="2059619"/>
            <a:ext cx="5149049" cy="4575299"/>
          </a:xfrm>
        </p:spPr>
      </p:pic>
      <p:sp>
        <p:nvSpPr>
          <p:cNvPr id="10" name="TextBox 9">
            <a:extLst>
              <a:ext uri="{FF2B5EF4-FFF2-40B4-BE49-F238E27FC236}">
                <a16:creationId xmlns:a16="http://schemas.microsoft.com/office/drawing/2014/main" xmlns="" id="{58331729-DDCD-42FE-8147-48593C8EBCED}"/>
              </a:ext>
            </a:extLst>
          </p:cNvPr>
          <p:cNvSpPr txBox="1"/>
          <p:nvPr/>
        </p:nvSpPr>
        <p:spPr>
          <a:xfrm>
            <a:off x="423501" y="1413288"/>
            <a:ext cx="10715348" cy="646331"/>
          </a:xfrm>
          <a:prstGeom prst="rect">
            <a:avLst/>
          </a:prstGeom>
          <a:noFill/>
        </p:spPr>
        <p:txBody>
          <a:bodyPr wrap="square" rtlCol="0">
            <a:spAutoFit/>
          </a:bodyPr>
          <a:lstStyle/>
          <a:p>
            <a:r>
              <a:rPr lang="en-US" dirty="0">
                <a:solidFill>
                  <a:srgbClr val="404040"/>
                </a:solidFill>
                <a:latin typeface="Lato" panose="020B0604020202020204" pitchFamily="34" charset="0"/>
              </a:rPr>
              <a:t>T</a:t>
            </a:r>
            <a:r>
              <a:rPr lang="en-US" b="0" i="0" dirty="0">
                <a:solidFill>
                  <a:srgbClr val="404040"/>
                </a:solidFill>
                <a:effectLst/>
                <a:latin typeface="Lato" panose="020B0604020202020204" pitchFamily="34" charset="0"/>
              </a:rPr>
              <a:t>his package provides a single interface for extracting content from any type of file, without any irrelevant markup. This package will help us to Convert All kind format </a:t>
            </a:r>
            <a:r>
              <a:rPr lang="en-US" dirty="0">
                <a:solidFill>
                  <a:srgbClr val="404040"/>
                </a:solidFill>
                <a:latin typeface="Lato" panose="020B0604020202020204" pitchFamily="34" charset="0"/>
              </a:rPr>
              <a:t>resume into Docx Format .</a:t>
            </a:r>
            <a:endParaRPr lang="en-IN" dirty="0"/>
          </a:p>
        </p:txBody>
      </p:sp>
      <p:sp>
        <p:nvSpPr>
          <p:cNvPr id="3" name="Rectangle: Rounded Corners 2">
            <a:extLst>
              <a:ext uri="{FF2B5EF4-FFF2-40B4-BE49-F238E27FC236}">
                <a16:creationId xmlns:a16="http://schemas.microsoft.com/office/drawing/2014/main" xmlns="" id="{29355AFC-7C0D-FE3F-414D-BA7CCC18BEFF}"/>
              </a:ext>
            </a:extLst>
          </p:cNvPr>
          <p:cNvSpPr/>
          <p:nvPr/>
        </p:nvSpPr>
        <p:spPr>
          <a:xfrm>
            <a:off x="316607" y="223082"/>
            <a:ext cx="7892497" cy="988681"/>
          </a:xfrm>
          <a:prstGeom prst="roundRect">
            <a:avLst/>
          </a:prstGeom>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en-US" sz="3600" dirty="0" err="1">
                <a:solidFill>
                  <a:schemeClr val="tx1"/>
                </a:solidFill>
                <a:latin typeface="Algerian" panose="04020705040A02060702" pitchFamily="82" charset="0"/>
              </a:rPr>
              <a:t>Textract</a:t>
            </a:r>
            <a:endParaRPr lang="en-IN" sz="3600" dirty="0">
              <a:solidFill>
                <a:schemeClr val="tx1"/>
              </a:solidFill>
              <a:latin typeface="Algerian" panose="04020705040A02060702" pitchFamily="82" charset="0"/>
            </a:endParaRPr>
          </a:p>
        </p:txBody>
      </p:sp>
    </p:spTree>
    <p:extLst>
      <p:ext uri="{BB962C8B-B14F-4D97-AF65-F5344CB8AC3E}">
        <p14:creationId xmlns:p14="http://schemas.microsoft.com/office/powerpoint/2010/main" val="3560118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1A5713C-07EA-347B-6E04-06A001A94A42}"/>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xmlns="" id="{4E62755B-4DBF-5457-A9CF-9C2C309BB98D}"/>
              </a:ext>
            </a:extLst>
          </p:cNvPr>
          <p:cNvSpPr/>
          <p:nvPr/>
        </p:nvSpPr>
        <p:spPr>
          <a:xfrm>
            <a:off x="316607" y="223082"/>
            <a:ext cx="7892497" cy="988681"/>
          </a:xfrm>
          <a:prstGeom prst="roundRect">
            <a:avLst/>
          </a:prstGeom>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en-US" sz="3600" dirty="0">
                <a:solidFill>
                  <a:schemeClr val="tx1"/>
                </a:solidFill>
                <a:latin typeface="Algerian" panose="04020705040A02060702" pitchFamily="82" charset="0"/>
              </a:rPr>
              <a:t>Data Preprocessing</a:t>
            </a:r>
            <a:endParaRPr lang="en-IN" sz="3600" dirty="0">
              <a:solidFill>
                <a:schemeClr val="tx1"/>
              </a:solidFill>
              <a:latin typeface="Algerian" panose="04020705040A02060702" pitchFamily="82" charset="0"/>
            </a:endParaRPr>
          </a:p>
        </p:txBody>
      </p:sp>
      <p:sp>
        <p:nvSpPr>
          <p:cNvPr id="5" name="Rectangle 2">
            <a:extLst>
              <a:ext uri="{FF2B5EF4-FFF2-40B4-BE49-F238E27FC236}">
                <a16:creationId xmlns:a16="http://schemas.microsoft.com/office/drawing/2014/main" xmlns="" id="{DD2CE11E-357B-FA89-ED84-5987A6463442}"/>
              </a:ext>
            </a:extLst>
          </p:cNvPr>
          <p:cNvSpPr>
            <a:spLocks noChangeArrowheads="1"/>
          </p:cNvSpPr>
          <p:nvPr/>
        </p:nvSpPr>
        <p:spPr bwMode="auto">
          <a:xfrm>
            <a:off x="381922" y="1768806"/>
            <a:ext cx="8103081" cy="276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rtl="0" eaLnBrk="0" fontAlgn="base" hangingPunct="0">
              <a:lnSpc>
                <a:spcPct val="150000"/>
              </a:lnSpc>
              <a:spcBef>
                <a:spcPct val="0"/>
              </a:spcBef>
              <a:spcAft>
                <a:spcPct val="0"/>
              </a:spcAft>
            </a:pPr>
            <a:r>
              <a:rPr lang="en-US" altLang="en-US" sz="2800" dirty="0">
                <a:solidFill>
                  <a:srgbClr val="404040"/>
                </a:solidFill>
                <a:latin typeface="Lato" panose="020B0604020202020204" pitchFamily="34" charset="0"/>
              </a:rPr>
              <a:t>Steps Performed:</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dirty="0">
                <a:solidFill>
                  <a:srgbClr val="404040"/>
                </a:solidFill>
                <a:latin typeface="Lato" panose="020B0604020202020204" pitchFamily="34" charset="0"/>
              </a:rPr>
              <a:t>Converted Doc and PDF files into Docx .</a:t>
            </a:r>
          </a:p>
          <a:p>
            <a:pPr marL="285750" indent="-285750" defTabSz="914400" eaLnBrk="0" fontAlgn="base" hangingPunct="0">
              <a:lnSpc>
                <a:spcPct val="150000"/>
              </a:lnSpc>
              <a:spcBef>
                <a:spcPct val="0"/>
              </a:spcBef>
              <a:spcAft>
                <a:spcPct val="0"/>
              </a:spcAft>
              <a:buFont typeface="Wingdings" panose="05000000000000000000" pitchFamily="2" charset="2"/>
              <a:buChar char="Ø"/>
            </a:pPr>
            <a:r>
              <a:rPr lang="en-US" altLang="en-US" dirty="0">
                <a:solidFill>
                  <a:srgbClr val="404040"/>
                </a:solidFill>
                <a:latin typeface="Lato" panose="020B0604020202020204" pitchFamily="34" charset="0"/>
              </a:rPr>
              <a:t>Merged All categories and Created CSV file.</a:t>
            </a:r>
          </a:p>
          <a:p>
            <a:pPr marL="285750" indent="-285750" defTabSz="914400" eaLnBrk="0" fontAlgn="base" hangingPunct="0">
              <a:lnSpc>
                <a:spcPct val="150000"/>
              </a:lnSpc>
              <a:spcBef>
                <a:spcPct val="0"/>
              </a:spcBef>
              <a:spcAft>
                <a:spcPct val="0"/>
              </a:spcAft>
              <a:buFont typeface="Wingdings" panose="05000000000000000000" pitchFamily="2" charset="2"/>
              <a:buChar char="Ø"/>
            </a:pPr>
            <a:r>
              <a:rPr lang="en-US" altLang="en-US" dirty="0">
                <a:solidFill>
                  <a:srgbClr val="404040"/>
                </a:solidFill>
                <a:latin typeface="Lato" panose="020B0604020202020204" pitchFamily="34" charset="0"/>
              </a:rPr>
              <a:t>Removed: URLs, emails, punctuation, and </a:t>
            </a:r>
            <a:r>
              <a:rPr lang="en-US" altLang="en-US" dirty="0" err="1">
                <a:solidFill>
                  <a:srgbClr val="404040"/>
                </a:solidFill>
                <a:latin typeface="Lato" panose="020B0604020202020204" pitchFamily="34" charset="0"/>
              </a:rPr>
              <a:t>stopwords</a:t>
            </a:r>
            <a:endParaRPr lang="en-US" altLang="en-US" dirty="0">
              <a:solidFill>
                <a:srgbClr val="404040"/>
              </a:solidFill>
              <a:latin typeface="Lato"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dirty="0">
                <a:solidFill>
                  <a:srgbClr val="404040"/>
                </a:solidFill>
                <a:latin typeface="Lato" panose="020B0604020202020204" pitchFamily="34" charset="0"/>
              </a:rPr>
              <a:t>Applied: Tokenization, stemming, lemmatization</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dirty="0">
                <a:solidFill>
                  <a:srgbClr val="404040"/>
                </a:solidFill>
                <a:latin typeface="Lato" panose="020B0604020202020204" pitchFamily="34" charset="0"/>
              </a:rPr>
              <a:t>Output: Cleaned resumes used for feature extraction</a:t>
            </a:r>
          </a:p>
        </p:txBody>
      </p:sp>
    </p:spTree>
    <p:extLst>
      <p:ext uri="{BB962C8B-B14F-4D97-AF65-F5344CB8AC3E}">
        <p14:creationId xmlns:p14="http://schemas.microsoft.com/office/powerpoint/2010/main" val="19161104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5D3B9622-F888-4130-B4C8-345D15629017}"/>
              </a:ext>
            </a:extLst>
          </p:cNvPr>
          <p:cNvPicPr>
            <a:picLocks noChangeAspect="1"/>
          </p:cNvPicPr>
          <p:nvPr/>
        </p:nvPicPr>
        <p:blipFill>
          <a:blip r:embed="rId2"/>
          <a:stretch>
            <a:fillRect/>
          </a:stretch>
        </p:blipFill>
        <p:spPr>
          <a:xfrm>
            <a:off x="328474" y="1487538"/>
            <a:ext cx="10625665" cy="4624013"/>
          </a:xfrm>
          <a:prstGeom prst="rect">
            <a:avLst/>
          </a:prstGeom>
        </p:spPr>
      </p:pic>
      <p:sp>
        <p:nvSpPr>
          <p:cNvPr id="2" name="Rectangle: Rounded Corners 1">
            <a:extLst>
              <a:ext uri="{FF2B5EF4-FFF2-40B4-BE49-F238E27FC236}">
                <a16:creationId xmlns:a16="http://schemas.microsoft.com/office/drawing/2014/main" xmlns="" id="{8144EEB7-D2A4-F81C-67B5-167EF2C2A0DF}"/>
              </a:ext>
            </a:extLst>
          </p:cNvPr>
          <p:cNvSpPr/>
          <p:nvPr/>
        </p:nvSpPr>
        <p:spPr>
          <a:xfrm>
            <a:off x="316607" y="223082"/>
            <a:ext cx="7892497" cy="988681"/>
          </a:xfrm>
          <a:prstGeom prst="roundRect">
            <a:avLst/>
          </a:prstGeom>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en-US" sz="3600" dirty="0">
                <a:solidFill>
                  <a:schemeClr val="tx1"/>
                </a:solidFill>
                <a:latin typeface="Algerian" panose="04020705040A02060702" pitchFamily="82" charset="0"/>
              </a:rPr>
              <a:t>Csv Data Set</a:t>
            </a:r>
            <a:endParaRPr lang="en-IN" sz="3600" dirty="0">
              <a:solidFill>
                <a:schemeClr val="tx1"/>
              </a:solidFill>
              <a:latin typeface="Algerian" panose="04020705040A02060702" pitchFamily="82" charset="0"/>
            </a:endParaRPr>
          </a:p>
        </p:txBody>
      </p:sp>
    </p:spTree>
    <p:extLst>
      <p:ext uri="{BB962C8B-B14F-4D97-AF65-F5344CB8AC3E}">
        <p14:creationId xmlns:p14="http://schemas.microsoft.com/office/powerpoint/2010/main" val="2781640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6EF82221-E7A2-8B51-58CE-A1328EA4E7DE}"/>
              </a:ext>
            </a:extLst>
          </p:cNvPr>
          <p:cNvSpPr txBox="1"/>
          <p:nvPr/>
        </p:nvSpPr>
        <p:spPr>
          <a:xfrm>
            <a:off x="315229" y="1372141"/>
            <a:ext cx="7416150" cy="83099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After Extracting and Modifying the Dataset, given data contains a total of 4 Classes and 79 rows </a:t>
            </a:r>
            <a:r>
              <a:rPr lang="en-US" sz="3000" dirty="0">
                <a:ln w="0"/>
                <a:solidFill>
                  <a:schemeClr val="accent2"/>
                </a:solidFill>
                <a:effectLst>
                  <a:outerShdw blurRad="38100" dist="25400" dir="5400000" algn="ctr" rotWithShape="0">
                    <a:srgbClr val="6E747A">
                      <a:alpha val="43000"/>
                    </a:srgbClr>
                  </a:outerShdw>
                </a:effectLst>
                <a:latin typeface="Century Schoolbook" panose="02040604050505020304" pitchFamily="18" charset="0"/>
              </a:rPr>
              <a:t>. </a:t>
            </a:r>
            <a:endParaRPr lang="en-IN" sz="3000" dirty="0">
              <a:ln w="0"/>
              <a:solidFill>
                <a:schemeClr val="accent2"/>
              </a:solidFill>
              <a:effectLst>
                <a:outerShdw blurRad="38100" dist="25400" dir="5400000" algn="ctr" rotWithShape="0">
                  <a:srgbClr val="6E747A">
                    <a:alpha val="43000"/>
                  </a:srgbClr>
                </a:outerShdw>
              </a:effectLst>
              <a:latin typeface="Century Schoolbook" panose="02040604050505020304" pitchFamily="18" charset="0"/>
            </a:endParaRPr>
          </a:p>
        </p:txBody>
      </p:sp>
      <p:pic>
        <p:nvPicPr>
          <p:cNvPr id="5" name="Picture 4">
            <a:extLst>
              <a:ext uri="{FF2B5EF4-FFF2-40B4-BE49-F238E27FC236}">
                <a16:creationId xmlns:a16="http://schemas.microsoft.com/office/drawing/2014/main" xmlns="" id="{6FE12F6D-0924-ABE3-8A2B-76217AEDD734}"/>
              </a:ext>
            </a:extLst>
          </p:cNvPr>
          <p:cNvPicPr>
            <a:picLocks noChangeAspect="1"/>
          </p:cNvPicPr>
          <p:nvPr/>
        </p:nvPicPr>
        <p:blipFill>
          <a:blip r:embed="rId2"/>
          <a:stretch>
            <a:fillRect/>
          </a:stretch>
        </p:blipFill>
        <p:spPr>
          <a:xfrm>
            <a:off x="208885" y="2463282"/>
            <a:ext cx="5438095" cy="4019048"/>
          </a:xfrm>
          <a:prstGeom prst="rect">
            <a:avLst/>
          </a:prstGeom>
        </p:spPr>
      </p:pic>
      <p:pic>
        <p:nvPicPr>
          <p:cNvPr id="15" name="Picture 14">
            <a:extLst>
              <a:ext uri="{FF2B5EF4-FFF2-40B4-BE49-F238E27FC236}">
                <a16:creationId xmlns:a16="http://schemas.microsoft.com/office/drawing/2014/main" xmlns="" id="{A6EAD1F4-A6DD-ED34-FDD4-E326592A6F53}"/>
              </a:ext>
            </a:extLst>
          </p:cNvPr>
          <p:cNvPicPr>
            <a:picLocks noChangeAspect="1"/>
          </p:cNvPicPr>
          <p:nvPr/>
        </p:nvPicPr>
        <p:blipFill>
          <a:blip r:embed="rId3"/>
          <a:stretch>
            <a:fillRect/>
          </a:stretch>
        </p:blipFill>
        <p:spPr>
          <a:xfrm>
            <a:off x="6545022" y="2370849"/>
            <a:ext cx="4054554" cy="3946849"/>
          </a:xfrm>
          <a:prstGeom prst="rect">
            <a:avLst/>
          </a:prstGeom>
        </p:spPr>
      </p:pic>
      <p:sp>
        <p:nvSpPr>
          <p:cNvPr id="2" name="Rectangle: Rounded Corners 1">
            <a:extLst>
              <a:ext uri="{FF2B5EF4-FFF2-40B4-BE49-F238E27FC236}">
                <a16:creationId xmlns:a16="http://schemas.microsoft.com/office/drawing/2014/main" xmlns="" id="{66022BD7-6CE4-9241-4D15-18DFAB0CB6F5}"/>
              </a:ext>
            </a:extLst>
          </p:cNvPr>
          <p:cNvSpPr/>
          <p:nvPr/>
        </p:nvSpPr>
        <p:spPr>
          <a:xfrm>
            <a:off x="208885" y="215749"/>
            <a:ext cx="7892497" cy="988681"/>
          </a:xfrm>
          <a:prstGeom prst="roundRect">
            <a:avLst/>
          </a:prstGeom>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en-US" sz="3600" dirty="0">
                <a:solidFill>
                  <a:schemeClr val="tx1"/>
                </a:solidFill>
                <a:latin typeface="Algerian" panose="04020705040A02060702" pitchFamily="82" charset="0"/>
              </a:rPr>
              <a:t>DATA Set Details</a:t>
            </a:r>
            <a:endParaRPr lang="en-IN" sz="3600" dirty="0">
              <a:solidFill>
                <a:schemeClr val="tx1"/>
              </a:solidFill>
              <a:latin typeface="Algerian" panose="04020705040A02060702" pitchFamily="82" charset="0"/>
            </a:endParaRPr>
          </a:p>
        </p:txBody>
      </p:sp>
    </p:spTree>
    <p:extLst>
      <p:ext uri="{BB962C8B-B14F-4D97-AF65-F5344CB8AC3E}">
        <p14:creationId xmlns:p14="http://schemas.microsoft.com/office/powerpoint/2010/main" val="1294746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8" name="Picture 10">
            <a:extLst>
              <a:ext uri="{FF2B5EF4-FFF2-40B4-BE49-F238E27FC236}">
                <a16:creationId xmlns:a16="http://schemas.microsoft.com/office/drawing/2014/main" xmlns="" id="{05004CDB-A25B-DBFE-96FB-B4F1A0AADF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434" y="2823878"/>
            <a:ext cx="3816310" cy="3241098"/>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a:extLst>
              <a:ext uri="{FF2B5EF4-FFF2-40B4-BE49-F238E27FC236}">
                <a16:creationId xmlns:a16="http://schemas.microsoft.com/office/drawing/2014/main" xmlns="" id="{10447243-EFA0-EA29-9797-C77F67F1A6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7127" y="2925147"/>
            <a:ext cx="4535633" cy="359126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D8F58BA2-BF96-C355-DF43-8FACC2220B28}"/>
              </a:ext>
            </a:extLst>
          </p:cNvPr>
          <p:cNvSpPr txBox="1"/>
          <p:nvPr/>
        </p:nvSpPr>
        <p:spPr>
          <a:xfrm>
            <a:off x="0" y="2015335"/>
            <a:ext cx="5682208" cy="677108"/>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404040"/>
                </a:solidFill>
                <a:latin typeface="Lato" panose="020B0604020202020204" pitchFamily="34" charset="0"/>
              </a:rPr>
              <a:t>By using Pie chart roles applied feature is displayed to visualize the job roles</a:t>
            </a:r>
            <a:r>
              <a:rPr lang="en-US" sz="2000" dirty="0">
                <a:latin typeface="Century Schoolbook" panose="02040604050505020304" pitchFamily="18" charset="0"/>
              </a:rPr>
              <a:t>.</a:t>
            </a:r>
            <a:endParaRPr lang="en-IN" sz="2000" dirty="0">
              <a:latin typeface="Century Schoolbook" panose="02040604050505020304" pitchFamily="18" charset="0"/>
            </a:endParaRPr>
          </a:p>
        </p:txBody>
      </p:sp>
      <p:sp>
        <p:nvSpPr>
          <p:cNvPr id="6" name="TextBox 5">
            <a:extLst>
              <a:ext uri="{FF2B5EF4-FFF2-40B4-BE49-F238E27FC236}">
                <a16:creationId xmlns:a16="http://schemas.microsoft.com/office/drawing/2014/main" xmlns="" id="{9B89F401-74E4-6962-E011-F0C9C439FD93}"/>
              </a:ext>
            </a:extLst>
          </p:cNvPr>
          <p:cNvSpPr txBox="1"/>
          <p:nvPr/>
        </p:nvSpPr>
        <p:spPr>
          <a:xfrm>
            <a:off x="6509794" y="2030723"/>
            <a:ext cx="5329781" cy="646331"/>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404040"/>
                </a:solidFill>
                <a:latin typeface="Lato" panose="020B0604020202020204" pitchFamily="34" charset="0"/>
              </a:rPr>
              <a:t>By using Histogram  roles applied feature is displayed to check the job types.</a:t>
            </a:r>
            <a:endParaRPr lang="en-IN" dirty="0">
              <a:solidFill>
                <a:srgbClr val="404040"/>
              </a:solidFill>
              <a:latin typeface="Lato" panose="020B0604020202020204" pitchFamily="34" charset="0"/>
            </a:endParaRPr>
          </a:p>
        </p:txBody>
      </p:sp>
      <p:sp>
        <p:nvSpPr>
          <p:cNvPr id="3" name="Rectangle: Rounded Corners 2">
            <a:extLst>
              <a:ext uri="{FF2B5EF4-FFF2-40B4-BE49-F238E27FC236}">
                <a16:creationId xmlns:a16="http://schemas.microsoft.com/office/drawing/2014/main" xmlns="" id="{ABFEA328-9C50-5DB7-9126-D4992124C6EC}"/>
              </a:ext>
            </a:extLst>
          </p:cNvPr>
          <p:cNvSpPr/>
          <p:nvPr/>
        </p:nvSpPr>
        <p:spPr>
          <a:xfrm>
            <a:off x="285085" y="179423"/>
            <a:ext cx="7892497" cy="988681"/>
          </a:xfrm>
          <a:prstGeom prst="roundRect">
            <a:avLst/>
          </a:prstGeom>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en-IN" sz="3200" dirty="0">
                <a:solidFill>
                  <a:schemeClr val="tx1"/>
                </a:solidFill>
                <a:latin typeface="Algerian" panose="04020705040A02060702" pitchFamily="82" charset="0"/>
              </a:rPr>
              <a:t>Exploratory Data Analysis (EDA)</a:t>
            </a:r>
          </a:p>
        </p:txBody>
      </p:sp>
    </p:spTree>
    <p:extLst>
      <p:ext uri="{BB962C8B-B14F-4D97-AF65-F5344CB8AC3E}">
        <p14:creationId xmlns:p14="http://schemas.microsoft.com/office/powerpoint/2010/main" val="33640113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xmlns="" id="{38C2F87E-3AFB-49D5-92C1-AC6F4D1B99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9428" y="1493631"/>
            <a:ext cx="6848669" cy="301528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xmlns="" id="{1338AC06-658A-2413-0F2E-EA77FA2D30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441" y="5065394"/>
            <a:ext cx="11392678" cy="15176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Rounded Corners 2">
            <a:extLst>
              <a:ext uri="{FF2B5EF4-FFF2-40B4-BE49-F238E27FC236}">
                <a16:creationId xmlns:a16="http://schemas.microsoft.com/office/drawing/2014/main" xmlns="" id="{EC11304E-759C-1F19-9A01-ACB09FC0279F}"/>
              </a:ext>
            </a:extLst>
          </p:cNvPr>
          <p:cNvSpPr/>
          <p:nvPr/>
        </p:nvSpPr>
        <p:spPr>
          <a:xfrm>
            <a:off x="210441" y="141358"/>
            <a:ext cx="7892497" cy="988681"/>
          </a:xfrm>
          <a:prstGeom prst="roundRect">
            <a:avLst/>
          </a:prstGeom>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en-IN" sz="3200" dirty="0">
                <a:solidFill>
                  <a:schemeClr val="tx1"/>
                </a:solidFill>
                <a:latin typeface="Algerian" panose="04020705040A02060702" pitchFamily="82" charset="0"/>
              </a:rPr>
              <a:t>Word Cloud</a:t>
            </a:r>
          </a:p>
        </p:txBody>
      </p:sp>
    </p:spTree>
    <p:extLst>
      <p:ext uri="{BB962C8B-B14F-4D97-AF65-F5344CB8AC3E}">
        <p14:creationId xmlns:p14="http://schemas.microsoft.com/office/powerpoint/2010/main" val="40766449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A16B1719-2E7B-9E58-705D-EAFE4EEEC073}"/>
              </a:ext>
            </a:extLst>
          </p:cNvPr>
          <p:cNvSpPr txBox="1"/>
          <p:nvPr/>
        </p:nvSpPr>
        <p:spPr>
          <a:xfrm>
            <a:off x="210441" y="1249283"/>
            <a:ext cx="11400534" cy="1754326"/>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404040"/>
                </a:solidFill>
                <a:latin typeface="Lato" panose="020B0604020202020204" pitchFamily="34" charset="0"/>
              </a:rPr>
              <a:t>TF-IDF is better than Count Vectorizers because it not only focuses on the frequency of words present in the corpus but also provides the importance of the words. </a:t>
            </a:r>
          </a:p>
          <a:p>
            <a:pPr marL="285750" indent="-285750">
              <a:buFont typeface="Arial" panose="020B0604020202020204" pitchFamily="34" charset="0"/>
              <a:buChar char="•"/>
            </a:pPr>
            <a:endParaRPr lang="en-US" dirty="0">
              <a:solidFill>
                <a:srgbClr val="404040"/>
              </a:solidFill>
              <a:latin typeface="Lato" panose="020B0604020202020204" pitchFamily="34" charset="0"/>
            </a:endParaRPr>
          </a:p>
          <a:p>
            <a:pPr marL="285750" indent="-285750">
              <a:buFont typeface="Arial" panose="020B0604020202020204" pitchFamily="34" charset="0"/>
              <a:buChar char="•"/>
            </a:pPr>
            <a:r>
              <a:rPr lang="en-US" dirty="0">
                <a:solidFill>
                  <a:srgbClr val="404040"/>
                </a:solidFill>
                <a:latin typeface="Lato" panose="020B0604020202020204" pitchFamily="34" charset="0"/>
              </a:rPr>
              <a:t>We can then remove the words that are less important for analysis, hence making the model building less complex by reducing the input dimensions.</a:t>
            </a:r>
          </a:p>
          <a:p>
            <a:endParaRPr lang="en-US" dirty="0">
              <a:solidFill>
                <a:srgbClr val="202124"/>
              </a:solidFill>
              <a:latin typeface="arial" panose="020B0604020202020204" pitchFamily="34" charset="0"/>
            </a:endParaRPr>
          </a:p>
        </p:txBody>
      </p:sp>
      <p:pic>
        <p:nvPicPr>
          <p:cNvPr id="7" name="Picture 2">
            <a:extLst>
              <a:ext uri="{FF2B5EF4-FFF2-40B4-BE49-F238E27FC236}">
                <a16:creationId xmlns:a16="http://schemas.microsoft.com/office/drawing/2014/main" xmlns="" id="{F1E20772-BC44-D542-0716-D721BDD5F4F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47377" y="3194656"/>
            <a:ext cx="5634182" cy="3282344"/>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xmlns="" id="{9D468346-67BE-7988-D518-20B9D0938922}"/>
              </a:ext>
            </a:extLst>
          </p:cNvPr>
          <p:cNvSpPr/>
          <p:nvPr/>
        </p:nvSpPr>
        <p:spPr>
          <a:xfrm>
            <a:off x="210441" y="141358"/>
            <a:ext cx="7892497" cy="988681"/>
          </a:xfrm>
          <a:prstGeom prst="roundRect">
            <a:avLst/>
          </a:prstGeom>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en-IN" sz="3200" dirty="0">
                <a:solidFill>
                  <a:schemeClr val="tx1"/>
                </a:solidFill>
                <a:latin typeface="Algerian" panose="04020705040A02060702" pitchFamily="82" charset="0"/>
              </a:rPr>
              <a:t>Model Building :– </a:t>
            </a:r>
            <a:r>
              <a:rPr lang="en-IN" sz="3200" dirty="0" err="1">
                <a:solidFill>
                  <a:schemeClr val="tx1"/>
                </a:solidFill>
                <a:latin typeface="Algerian" panose="04020705040A02060702" pitchFamily="82" charset="0"/>
              </a:rPr>
              <a:t>tf</a:t>
            </a:r>
            <a:r>
              <a:rPr lang="en-IN" sz="3200" dirty="0">
                <a:solidFill>
                  <a:schemeClr val="tx1"/>
                </a:solidFill>
                <a:latin typeface="Algerian" panose="04020705040A02060702" pitchFamily="82" charset="0"/>
              </a:rPr>
              <a:t> -</a:t>
            </a:r>
            <a:r>
              <a:rPr lang="en-IN" sz="3200" dirty="0" err="1">
                <a:solidFill>
                  <a:schemeClr val="tx1"/>
                </a:solidFill>
                <a:latin typeface="Algerian" panose="04020705040A02060702" pitchFamily="82" charset="0"/>
              </a:rPr>
              <a:t>idf</a:t>
            </a:r>
            <a:endParaRPr lang="en-IN" sz="3200" dirty="0">
              <a:solidFill>
                <a:schemeClr val="tx1"/>
              </a:solidFill>
              <a:latin typeface="Algerian" panose="04020705040A02060702" pitchFamily="82" charset="0"/>
            </a:endParaRPr>
          </a:p>
        </p:txBody>
      </p:sp>
      <p:pic>
        <p:nvPicPr>
          <p:cNvPr id="10" name="Picture 9">
            <a:extLst>
              <a:ext uri="{FF2B5EF4-FFF2-40B4-BE49-F238E27FC236}">
                <a16:creationId xmlns:a16="http://schemas.microsoft.com/office/drawing/2014/main" xmlns="" id="{4B02E70A-2A25-0399-A962-951FB9592841}"/>
              </a:ext>
            </a:extLst>
          </p:cNvPr>
          <p:cNvPicPr>
            <a:picLocks noChangeAspect="1"/>
          </p:cNvPicPr>
          <p:nvPr/>
        </p:nvPicPr>
        <p:blipFill>
          <a:blip r:embed="rId3"/>
          <a:stretch>
            <a:fillRect/>
          </a:stretch>
        </p:blipFill>
        <p:spPr>
          <a:xfrm>
            <a:off x="445408" y="3276290"/>
            <a:ext cx="6039368" cy="3674006"/>
          </a:xfrm>
          <a:prstGeom prst="rect">
            <a:avLst/>
          </a:prstGeom>
        </p:spPr>
      </p:pic>
    </p:spTree>
    <p:extLst>
      <p:ext uri="{BB962C8B-B14F-4D97-AF65-F5344CB8AC3E}">
        <p14:creationId xmlns:p14="http://schemas.microsoft.com/office/powerpoint/2010/main" val="2052032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784C3D8-B29D-4325-BAC6-9302111BEC30}"/>
              </a:ext>
            </a:extLst>
          </p:cNvPr>
          <p:cNvSpPr>
            <a:spLocks noGrp="1"/>
          </p:cNvSpPr>
          <p:nvPr>
            <p:ph type="title"/>
          </p:nvPr>
        </p:nvSpPr>
        <p:spPr>
          <a:xfrm>
            <a:off x="993229" y="3668858"/>
            <a:ext cx="3131709" cy="422564"/>
          </a:xfrm>
        </p:spPr>
        <p:txBody>
          <a:bodyPr>
            <a:normAutofit fontScale="90000"/>
          </a:bodyPr>
          <a:lstStyle/>
          <a:p>
            <a:pPr algn="ctr"/>
            <a:r>
              <a:rPr lang="en-IN" sz="2000" dirty="0"/>
              <a:t>Before Stratified Sampling</a:t>
            </a:r>
          </a:p>
        </p:txBody>
      </p:sp>
      <p:pic>
        <p:nvPicPr>
          <p:cNvPr id="5" name="Picture 4">
            <a:extLst>
              <a:ext uri="{FF2B5EF4-FFF2-40B4-BE49-F238E27FC236}">
                <a16:creationId xmlns:a16="http://schemas.microsoft.com/office/drawing/2014/main" xmlns="" id="{4ED03BEA-BF51-A048-A15D-9E8A050045BE}"/>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0" b="100000" l="0" r="100000">
                        <a14:backgroundMark x1="41919" y1="50000" x2="42045" y2="64516"/>
                        <a14:backgroundMark x1="41919" y1="53226" x2="42551" y2="67742"/>
                        <a14:backgroundMark x1="41919" y1="51613" x2="43308" y2="51613"/>
                        <a14:backgroundMark x1="43308" y1="51613" x2="42298" y2="69355"/>
                        <a14:backgroundMark x1="42172" y1="74194" x2="42803" y2="70968"/>
                        <a14:backgroundMark x1="55934" y1="51613" x2="56566" y2="51613"/>
                        <a14:backgroundMark x1="56566" y1="51613" x2="55934" y2="67742"/>
                        <a14:backgroundMark x1="72980" y1="51613" x2="72601" y2="56452"/>
                        <a14:backgroundMark x1="72854" y1="56452" x2="72854" y2="67742"/>
                        <a14:backgroundMark x1="73232" y1="50000" x2="72854" y2="64516"/>
                        <a14:backgroundMark x1="92045" y1="53226" x2="91793" y2="61290"/>
                        <a14:backgroundMark x1="92424" y1="51613" x2="92424" y2="69355"/>
                        <a14:backgroundMark x1="91540" y1="64516" x2="92803" y2="64516"/>
                      </a14:backgroundRemoval>
                    </a14:imgEffect>
                  </a14:imgLayer>
                </a14:imgProps>
              </a:ext>
            </a:extLst>
          </a:blip>
          <a:stretch>
            <a:fillRect/>
          </a:stretch>
        </p:blipFill>
        <p:spPr>
          <a:xfrm>
            <a:off x="840829" y="2650243"/>
            <a:ext cx="9947996" cy="778757"/>
          </a:xfrm>
          <a:prstGeom prst="rect">
            <a:avLst/>
          </a:prstGeom>
        </p:spPr>
      </p:pic>
      <p:pic>
        <p:nvPicPr>
          <p:cNvPr id="9" name="Picture 8">
            <a:extLst>
              <a:ext uri="{FF2B5EF4-FFF2-40B4-BE49-F238E27FC236}">
                <a16:creationId xmlns:a16="http://schemas.microsoft.com/office/drawing/2014/main" xmlns="" id="{833E01B4-96EB-3869-FC8B-98A8B06EE0D9}"/>
              </a:ext>
            </a:extLst>
          </p:cNvPr>
          <p:cNvPicPr>
            <a:picLocks noChangeAspect="1"/>
          </p:cNvPicPr>
          <p:nvPr/>
        </p:nvPicPr>
        <p:blipFill>
          <a:blip r:embed="rId4"/>
          <a:stretch>
            <a:fillRect/>
          </a:stretch>
        </p:blipFill>
        <p:spPr>
          <a:xfrm>
            <a:off x="840829" y="1301831"/>
            <a:ext cx="10688702" cy="1204063"/>
          </a:xfrm>
          <a:prstGeom prst="rect">
            <a:avLst/>
          </a:prstGeom>
        </p:spPr>
      </p:pic>
      <p:pic>
        <p:nvPicPr>
          <p:cNvPr id="6146" name="Picture 2">
            <a:extLst>
              <a:ext uri="{FF2B5EF4-FFF2-40B4-BE49-F238E27FC236}">
                <a16:creationId xmlns:a16="http://schemas.microsoft.com/office/drawing/2014/main" xmlns="" id="{C19EE6A7-9716-E923-0123-B03BC4CB20E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0828" y="4074102"/>
            <a:ext cx="3704885" cy="2783897"/>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xmlns="" id="{CB3DA070-BB47-F50C-C12E-D34DAA0FBF3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12402" y="4074103"/>
            <a:ext cx="3797076" cy="285317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xmlns="" id="{7A4E1CB6-E847-42BE-0D98-26A9125D70E7}"/>
              </a:ext>
            </a:extLst>
          </p:cNvPr>
          <p:cNvSpPr txBox="1"/>
          <p:nvPr/>
        </p:nvSpPr>
        <p:spPr>
          <a:xfrm>
            <a:off x="6096000" y="3640282"/>
            <a:ext cx="3131709" cy="369332"/>
          </a:xfrm>
          <a:prstGeom prst="rect">
            <a:avLst/>
          </a:prstGeom>
          <a:noFill/>
        </p:spPr>
        <p:txBody>
          <a:bodyPr wrap="square">
            <a:spAutoFit/>
          </a:bodyPr>
          <a:lstStyle/>
          <a:p>
            <a:r>
              <a:rPr lang="en-IN" sz="1800" dirty="0"/>
              <a:t>After Stratified </a:t>
            </a:r>
            <a:r>
              <a:rPr lang="en-IN" dirty="0"/>
              <a:t>S</a:t>
            </a:r>
            <a:r>
              <a:rPr lang="en-IN" sz="1800" dirty="0"/>
              <a:t>ampling</a:t>
            </a:r>
            <a:endParaRPr lang="en-US" dirty="0"/>
          </a:p>
        </p:txBody>
      </p:sp>
      <p:sp>
        <p:nvSpPr>
          <p:cNvPr id="13" name="TextBox 12">
            <a:extLst>
              <a:ext uri="{FF2B5EF4-FFF2-40B4-BE49-F238E27FC236}">
                <a16:creationId xmlns:a16="http://schemas.microsoft.com/office/drawing/2014/main" xmlns="" id="{0A678DBE-0EBE-F88D-F273-159421076B62}"/>
              </a:ext>
            </a:extLst>
          </p:cNvPr>
          <p:cNvSpPr txBox="1"/>
          <p:nvPr/>
        </p:nvSpPr>
        <p:spPr>
          <a:xfrm>
            <a:off x="4918362" y="2925719"/>
            <a:ext cx="244765" cy="307777"/>
          </a:xfrm>
          <a:prstGeom prst="rect">
            <a:avLst/>
          </a:prstGeom>
          <a:noFill/>
        </p:spPr>
        <p:txBody>
          <a:bodyPr wrap="square">
            <a:spAutoFit/>
          </a:bodyPr>
          <a:lstStyle/>
          <a:p>
            <a:r>
              <a:rPr lang="en-US" sz="1400" dirty="0">
                <a:solidFill>
                  <a:schemeClr val="tx1">
                    <a:lumMod val="65000"/>
                    <a:lumOff val="35000"/>
                  </a:schemeClr>
                </a:solidFill>
              </a:rPr>
              <a:t>4</a:t>
            </a:r>
          </a:p>
        </p:txBody>
      </p:sp>
      <p:sp>
        <p:nvSpPr>
          <p:cNvPr id="14" name="TextBox 13">
            <a:extLst>
              <a:ext uri="{FF2B5EF4-FFF2-40B4-BE49-F238E27FC236}">
                <a16:creationId xmlns:a16="http://schemas.microsoft.com/office/drawing/2014/main" xmlns="" id="{EED8352C-D076-E2E5-A7E4-A20FDC938659}"/>
              </a:ext>
            </a:extLst>
          </p:cNvPr>
          <p:cNvSpPr txBox="1"/>
          <p:nvPr/>
        </p:nvSpPr>
        <p:spPr>
          <a:xfrm>
            <a:off x="6289962" y="2916483"/>
            <a:ext cx="244765" cy="307777"/>
          </a:xfrm>
          <a:prstGeom prst="rect">
            <a:avLst/>
          </a:prstGeom>
          <a:noFill/>
        </p:spPr>
        <p:txBody>
          <a:bodyPr wrap="square">
            <a:spAutoFit/>
          </a:bodyPr>
          <a:lstStyle/>
          <a:p>
            <a:r>
              <a:rPr lang="en-US" sz="1400" dirty="0">
                <a:solidFill>
                  <a:schemeClr val="tx1">
                    <a:lumMod val="65000"/>
                    <a:lumOff val="35000"/>
                  </a:schemeClr>
                </a:solidFill>
              </a:rPr>
              <a:t>5</a:t>
            </a:r>
          </a:p>
        </p:txBody>
      </p:sp>
      <p:sp>
        <p:nvSpPr>
          <p:cNvPr id="15" name="TextBox 14">
            <a:extLst>
              <a:ext uri="{FF2B5EF4-FFF2-40B4-BE49-F238E27FC236}">
                <a16:creationId xmlns:a16="http://schemas.microsoft.com/office/drawing/2014/main" xmlns="" id="{3DB97191-B8BA-D3C5-34B6-13EEEF8BF087}"/>
              </a:ext>
            </a:extLst>
          </p:cNvPr>
          <p:cNvSpPr txBox="1"/>
          <p:nvPr/>
        </p:nvSpPr>
        <p:spPr>
          <a:xfrm>
            <a:off x="7922864" y="2928897"/>
            <a:ext cx="244765" cy="307777"/>
          </a:xfrm>
          <a:prstGeom prst="rect">
            <a:avLst/>
          </a:prstGeom>
          <a:noFill/>
        </p:spPr>
        <p:txBody>
          <a:bodyPr wrap="square">
            <a:spAutoFit/>
          </a:bodyPr>
          <a:lstStyle/>
          <a:p>
            <a:r>
              <a:rPr lang="en-US" sz="1400" dirty="0">
                <a:solidFill>
                  <a:schemeClr val="tx1">
                    <a:lumMod val="65000"/>
                    <a:lumOff val="35000"/>
                  </a:schemeClr>
                </a:solidFill>
              </a:rPr>
              <a:t>3</a:t>
            </a:r>
          </a:p>
        </p:txBody>
      </p:sp>
      <p:sp>
        <p:nvSpPr>
          <p:cNvPr id="17" name="TextBox 16">
            <a:extLst>
              <a:ext uri="{FF2B5EF4-FFF2-40B4-BE49-F238E27FC236}">
                <a16:creationId xmlns:a16="http://schemas.microsoft.com/office/drawing/2014/main" xmlns="" id="{18EF78AB-7A7D-F9E8-3EB9-185470C38D28}"/>
              </a:ext>
            </a:extLst>
          </p:cNvPr>
          <p:cNvSpPr txBox="1"/>
          <p:nvPr/>
        </p:nvSpPr>
        <p:spPr>
          <a:xfrm>
            <a:off x="9827489" y="2944243"/>
            <a:ext cx="244765" cy="307777"/>
          </a:xfrm>
          <a:prstGeom prst="rect">
            <a:avLst/>
          </a:prstGeom>
          <a:noFill/>
        </p:spPr>
        <p:txBody>
          <a:bodyPr wrap="square">
            <a:spAutoFit/>
          </a:bodyPr>
          <a:lstStyle/>
          <a:p>
            <a:r>
              <a:rPr lang="en-US" sz="1400" dirty="0">
                <a:solidFill>
                  <a:schemeClr val="tx1">
                    <a:lumMod val="65000"/>
                    <a:lumOff val="35000"/>
                  </a:schemeClr>
                </a:solidFill>
              </a:rPr>
              <a:t>4</a:t>
            </a:r>
          </a:p>
        </p:txBody>
      </p:sp>
      <p:sp>
        <p:nvSpPr>
          <p:cNvPr id="3" name="Rectangle: Rounded Corners 2">
            <a:extLst>
              <a:ext uri="{FF2B5EF4-FFF2-40B4-BE49-F238E27FC236}">
                <a16:creationId xmlns:a16="http://schemas.microsoft.com/office/drawing/2014/main" xmlns="" id="{F814407C-EF0E-7482-4EB1-7F2B366C7662}"/>
              </a:ext>
            </a:extLst>
          </p:cNvPr>
          <p:cNvSpPr/>
          <p:nvPr/>
        </p:nvSpPr>
        <p:spPr>
          <a:xfrm>
            <a:off x="210441" y="141358"/>
            <a:ext cx="7892497" cy="988681"/>
          </a:xfrm>
          <a:prstGeom prst="roundRect">
            <a:avLst/>
          </a:prstGeom>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en-IN" sz="3200" dirty="0">
                <a:solidFill>
                  <a:schemeClr val="tx1"/>
                </a:solidFill>
                <a:latin typeface="Algerian" panose="04020705040A02060702" pitchFamily="82" charset="0"/>
              </a:rPr>
              <a:t>Train &amp; Split</a:t>
            </a:r>
          </a:p>
        </p:txBody>
      </p:sp>
    </p:spTree>
    <p:extLst>
      <p:ext uri="{BB962C8B-B14F-4D97-AF65-F5344CB8AC3E}">
        <p14:creationId xmlns:p14="http://schemas.microsoft.com/office/powerpoint/2010/main" val="24717178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xmlns="" id="{19E35AF3-E71E-DA42-EC2A-5DF248F0CAA3}"/>
              </a:ext>
            </a:extLst>
          </p:cNvPr>
          <p:cNvSpPr/>
          <p:nvPr/>
        </p:nvSpPr>
        <p:spPr>
          <a:xfrm>
            <a:off x="210441" y="141358"/>
            <a:ext cx="7892497" cy="988681"/>
          </a:xfrm>
          <a:prstGeom prst="roundRect">
            <a:avLst/>
          </a:prstGeom>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en-IN" sz="3200" dirty="0">
                <a:solidFill>
                  <a:schemeClr val="tx1"/>
                </a:solidFill>
                <a:latin typeface="Algerian" panose="04020705040A02060702" pitchFamily="82" charset="0"/>
              </a:rPr>
              <a:t>Models</a:t>
            </a:r>
          </a:p>
        </p:txBody>
      </p:sp>
      <p:sp>
        <p:nvSpPr>
          <p:cNvPr id="8" name="TextBox 7">
            <a:extLst>
              <a:ext uri="{FF2B5EF4-FFF2-40B4-BE49-F238E27FC236}">
                <a16:creationId xmlns:a16="http://schemas.microsoft.com/office/drawing/2014/main" xmlns="" id="{C59CF484-5DB6-8AB3-1449-4F07E7A450D2}"/>
              </a:ext>
            </a:extLst>
          </p:cNvPr>
          <p:cNvSpPr txBox="1"/>
          <p:nvPr/>
        </p:nvSpPr>
        <p:spPr>
          <a:xfrm>
            <a:off x="354563" y="1261385"/>
            <a:ext cx="6102220" cy="873572"/>
          </a:xfrm>
          <a:prstGeom prst="rect">
            <a:avLst/>
          </a:prstGeom>
          <a:noFill/>
        </p:spPr>
        <p:txBody>
          <a:bodyPr wrap="square">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Algorithms Used:</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Logistic Regression (with hyperparameter tuning)</a:t>
            </a:r>
          </a:p>
        </p:txBody>
      </p:sp>
      <p:pic>
        <p:nvPicPr>
          <p:cNvPr id="10" name="Picture 9">
            <a:extLst>
              <a:ext uri="{FF2B5EF4-FFF2-40B4-BE49-F238E27FC236}">
                <a16:creationId xmlns:a16="http://schemas.microsoft.com/office/drawing/2014/main" xmlns="" id="{FE25076F-10BF-D66E-BEBD-D699C09E2EFD}"/>
              </a:ext>
            </a:extLst>
          </p:cNvPr>
          <p:cNvPicPr>
            <a:picLocks noChangeAspect="1"/>
          </p:cNvPicPr>
          <p:nvPr/>
        </p:nvPicPr>
        <p:blipFill>
          <a:blip r:embed="rId2"/>
          <a:stretch>
            <a:fillRect/>
          </a:stretch>
        </p:blipFill>
        <p:spPr>
          <a:xfrm>
            <a:off x="354563" y="2464253"/>
            <a:ext cx="3913939" cy="3132362"/>
          </a:xfrm>
          <a:prstGeom prst="rect">
            <a:avLst/>
          </a:prstGeom>
        </p:spPr>
      </p:pic>
      <p:pic>
        <p:nvPicPr>
          <p:cNvPr id="12" name="Picture 11">
            <a:extLst>
              <a:ext uri="{FF2B5EF4-FFF2-40B4-BE49-F238E27FC236}">
                <a16:creationId xmlns:a16="http://schemas.microsoft.com/office/drawing/2014/main" xmlns="" id="{6CE9F207-D3D8-F5D9-D426-641D564AB5EC}"/>
              </a:ext>
            </a:extLst>
          </p:cNvPr>
          <p:cNvPicPr>
            <a:picLocks noChangeAspect="1"/>
          </p:cNvPicPr>
          <p:nvPr/>
        </p:nvPicPr>
        <p:blipFill>
          <a:blip r:embed="rId3"/>
          <a:stretch>
            <a:fillRect/>
          </a:stretch>
        </p:blipFill>
        <p:spPr>
          <a:xfrm>
            <a:off x="4268502" y="2586096"/>
            <a:ext cx="5912172" cy="2674852"/>
          </a:xfrm>
          <a:prstGeom prst="rect">
            <a:avLst/>
          </a:prstGeom>
        </p:spPr>
      </p:pic>
    </p:spTree>
    <p:extLst>
      <p:ext uri="{BB962C8B-B14F-4D97-AF65-F5344CB8AC3E}">
        <p14:creationId xmlns:p14="http://schemas.microsoft.com/office/powerpoint/2010/main" val="29422919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62CE246-18E9-7830-E229-3F2C5D5317DF}"/>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xmlns="" id="{763C92C3-939C-271D-C6FA-98AFF4E52061}"/>
              </a:ext>
            </a:extLst>
          </p:cNvPr>
          <p:cNvSpPr/>
          <p:nvPr/>
        </p:nvSpPr>
        <p:spPr>
          <a:xfrm>
            <a:off x="210441" y="141358"/>
            <a:ext cx="7892497" cy="988681"/>
          </a:xfrm>
          <a:prstGeom prst="roundRect">
            <a:avLst/>
          </a:prstGeom>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en-IN" sz="3200" dirty="0">
                <a:solidFill>
                  <a:schemeClr val="tx1"/>
                </a:solidFill>
                <a:latin typeface="Algerian" panose="04020705040A02060702" pitchFamily="82" charset="0"/>
              </a:rPr>
              <a:t>Models</a:t>
            </a:r>
          </a:p>
        </p:txBody>
      </p:sp>
      <p:sp>
        <p:nvSpPr>
          <p:cNvPr id="8" name="TextBox 7">
            <a:extLst>
              <a:ext uri="{FF2B5EF4-FFF2-40B4-BE49-F238E27FC236}">
                <a16:creationId xmlns:a16="http://schemas.microsoft.com/office/drawing/2014/main" xmlns="" id="{CFC9ACE1-6350-4928-E80C-91A3FAFB981C}"/>
              </a:ext>
            </a:extLst>
          </p:cNvPr>
          <p:cNvSpPr txBox="1"/>
          <p:nvPr/>
        </p:nvSpPr>
        <p:spPr>
          <a:xfrm>
            <a:off x="354562" y="1261385"/>
            <a:ext cx="7128589" cy="873572"/>
          </a:xfrm>
          <a:prstGeom prst="rect">
            <a:avLst/>
          </a:prstGeom>
          <a:noFill/>
        </p:spPr>
        <p:txBody>
          <a:bodyPr wrap="square">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Algorithms Used:</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Support Vector Classifier (SVC) (with hyperparameter tuning)</a:t>
            </a:r>
          </a:p>
        </p:txBody>
      </p:sp>
      <p:pic>
        <p:nvPicPr>
          <p:cNvPr id="3" name="Picture 2">
            <a:extLst>
              <a:ext uri="{FF2B5EF4-FFF2-40B4-BE49-F238E27FC236}">
                <a16:creationId xmlns:a16="http://schemas.microsoft.com/office/drawing/2014/main" xmlns="" id="{B993F69B-F32E-F8C1-E118-FEC26A631F3D}"/>
              </a:ext>
            </a:extLst>
          </p:cNvPr>
          <p:cNvPicPr>
            <a:picLocks noChangeAspect="1"/>
          </p:cNvPicPr>
          <p:nvPr/>
        </p:nvPicPr>
        <p:blipFill>
          <a:blip r:embed="rId2"/>
          <a:stretch>
            <a:fillRect/>
          </a:stretch>
        </p:blipFill>
        <p:spPr>
          <a:xfrm>
            <a:off x="354562" y="2659224"/>
            <a:ext cx="4037351" cy="3193178"/>
          </a:xfrm>
          <a:prstGeom prst="rect">
            <a:avLst/>
          </a:prstGeom>
        </p:spPr>
      </p:pic>
      <p:pic>
        <p:nvPicPr>
          <p:cNvPr id="5" name="Picture 4">
            <a:extLst>
              <a:ext uri="{FF2B5EF4-FFF2-40B4-BE49-F238E27FC236}">
                <a16:creationId xmlns:a16="http://schemas.microsoft.com/office/drawing/2014/main" xmlns="" id="{8D4A7553-EF87-8E09-0C1C-D69056FCE829}"/>
              </a:ext>
            </a:extLst>
          </p:cNvPr>
          <p:cNvPicPr>
            <a:picLocks noChangeAspect="1"/>
          </p:cNvPicPr>
          <p:nvPr/>
        </p:nvPicPr>
        <p:blipFill>
          <a:blip r:embed="rId3"/>
          <a:stretch>
            <a:fillRect/>
          </a:stretch>
        </p:blipFill>
        <p:spPr>
          <a:xfrm>
            <a:off x="4156689" y="2796500"/>
            <a:ext cx="6058425" cy="2720576"/>
          </a:xfrm>
          <a:prstGeom prst="rect">
            <a:avLst/>
          </a:prstGeom>
        </p:spPr>
      </p:pic>
    </p:spTree>
    <p:extLst>
      <p:ext uri="{BB962C8B-B14F-4D97-AF65-F5344CB8AC3E}">
        <p14:creationId xmlns:p14="http://schemas.microsoft.com/office/powerpoint/2010/main" val="34887388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7435424A-19FD-8009-DAE1-09FC5BF87BFB}"/>
              </a:ext>
            </a:extLst>
          </p:cNvPr>
          <p:cNvSpPr txBox="1"/>
          <p:nvPr/>
        </p:nvSpPr>
        <p:spPr>
          <a:xfrm>
            <a:off x="164796" y="867485"/>
            <a:ext cx="3194030" cy="4247317"/>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Here, we have taken Model building algorithms such as Decision Tree Classifier,  Naïve Bayes, </a:t>
            </a:r>
            <a:r>
              <a:rPr lang="en-US" dirty="0" err="1">
                <a:latin typeface="Times New Roman" panose="02020603050405020304" pitchFamily="18" charset="0"/>
                <a:cs typeface="Times New Roman" panose="02020603050405020304" pitchFamily="18" charset="0"/>
              </a:rPr>
              <a:t>Adaboost</a:t>
            </a:r>
            <a:r>
              <a:rPr lang="en-US" dirty="0">
                <a:latin typeface="Times New Roman" panose="02020603050405020304" pitchFamily="18" charset="0"/>
                <a:cs typeface="Times New Roman" panose="02020603050405020304" pitchFamily="18" charset="0"/>
              </a:rPr>
              <a:t>, Random , Forest, etc.</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Among these algorithms, 100% Accuracy, Precision, Recall and F1-score have been achieved.</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100% accuracy is achieved by using the model Random Forest, Decision Tree and Gradient Boosting Classifier.</a:t>
            </a:r>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xmlns="" id="{A671CA73-671D-8BAB-54F4-C411E873D47D}"/>
              </a:ext>
            </a:extLst>
          </p:cNvPr>
          <p:cNvPicPr>
            <a:picLocks noChangeAspect="1"/>
          </p:cNvPicPr>
          <p:nvPr/>
        </p:nvPicPr>
        <p:blipFill>
          <a:blip r:embed="rId2"/>
          <a:stretch>
            <a:fillRect/>
          </a:stretch>
        </p:blipFill>
        <p:spPr>
          <a:xfrm>
            <a:off x="3858610" y="1120949"/>
            <a:ext cx="3465921" cy="2682457"/>
          </a:xfrm>
          <a:prstGeom prst="rect">
            <a:avLst/>
          </a:prstGeom>
        </p:spPr>
      </p:pic>
      <p:pic>
        <p:nvPicPr>
          <p:cNvPr id="5" name="Picture 4">
            <a:extLst>
              <a:ext uri="{FF2B5EF4-FFF2-40B4-BE49-F238E27FC236}">
                <a16:creationId xmlns:a16="http://schemas.microsoft.com/office/drawing/2014/main" xmlns="" id="{59FF36F3-DCAE-CA77-4628-C469A3B9981E}"/>
              </a:ext>
            </a:extLst>
          </p:cNvPr>
          <p:cNvPicPr>
            <a:picLocks noChangeAspect="1"/>
          </p:cNvPicPr>
          <p:nvPr/>
        </p:nvPicPr>
        <p:blipFill>
          <a:blip r:embed="rId3"/>
          <a:stretch>
            <a:fillRect/>
          </a:stretch>
        </p:blipFill>
        <p:spPr>
          <a:xfrm>
            <a:off x="7520479" y="1052151"/>
            <a:ext cx="3007011" cy="2682457"/>
          </a:xfrm>
          <a:prstGeom prst="rect">
            <a:avLst/>
          </a:prstGeom>
        </p:spPr>
      </p:pic>
      <p:pic>
        <p:nvPicPr>
          <p:cNvPr id="10" name="Picture 9">
            <a:extLst>
              <a:ext uri="{FF2B5EF4-FFF2-40B4-BE49-F238E27FC236}">
                <a16:creationId xmlns:a16="http://schemas.microsoft.com/office/drawing/2014/main" xmlns="" id="{8602DDEA-EEB8-37CB-7EAF-F0047D5E83EE}"/>
              </a:ext>
            </a:extLst>
          </p:cNvPr>
          <p:cNvPicPr>
            <a:picLocks noChangeAspect="1"/>
          </p:cNvPicPr>
          <p:nvPr/>
        </p:nvPicPr>
        <p:blipFill>
          <a:blip r:embed="rId4"/>
          <a:stretch>
            <a:fillRect/>
          </a:stretch>
        </p:blipFill>
        <p:spPr>
          <a:xfrm>
            <a:off x="3858610" y="4371347"/>
            <a:ext cx="3661869" cy="2385153"/>
          </a:xfrm>
          <a:prstGeom prst="rect">
            <a:avLst/>
          </a:prstGeom>
        </p:spPr>
      </p:pic>
      <p:pic>
        <p:nvPicPr>
          <p:cNvPr id="12" name="Picture 11">
            <a:extLst>
              <a:ext uri="{FF2B5EF4-FFF2-40B4-BE49-F238E27FC236}">
                <a16:creationId xmlns:a16="http://schemas.microsoft.com/office/drawing/2014/main" xmlns="" id="{058D144A-049E-A931-8F28-3C4726E4D51B}"/>
              </a:ext>
            </a:extLst>
          </p:cNvPr>
          <p:cNvPicPr>
            <a:picLocks noChangeAspect="1"/>
          </p:cNvPicPr>
          <p:nvPr/>
        </p:nvPicPr>
        <p:blipFill>
          <a:blip r:embed="rId5"/>
          <a:stretch>
            <a:fillRect/>
          </a:stretch>
        </p:blipFill>
        <p:spPr>
          <a:xfrm>
            <a:off x="7520479" y="4302549"/>
            <a:ext cx="3194030" cy="2453951"/>
          </a:xfrm>
          <a:prstGeom prst="rect">
            <a:avLst/>
          </a:prstGeom>
        </p:spPr>
      </p:pic>
      <p:sp>
        <p:nvSpPr>
          <p:cNvPr id="14" name="TextBox 13">
            <a:extLst>
              <a:ext uri="{FF2B5EF4-FFF2-40B4-BE49-F238E27FC236}">
                <a16:creationId xmlns:a16="http://schemas.microsoft.com/office/drawing/2014/main" xmlns="" id="{C7ACB90B-AD5E-5AD1-0988-B1561D7D3AEF}"/>
              </a:ext>
            </a:extLst>
          </p:cNvPr>
          <p:cNvSpPr txBox="1"/>
          <p:nvPr/>
        </p:nvSpPr>
        <p:spPr>
          <a:xfrm>
            <a:off x="7805377" y="3991337"/>
            <a:ext cx="2624234" cy="369332"/>
          </a:xfrm>
          <a:prstGeom prst="rect">
            <a:avLst/>
          </a:prstGeom>
          <a:noFill/>
        </p:spPr>
        <p:txBody>
          <a:bodyPr wrap="square">
            <a:spAutoFit/>
          </a:bodyPr>
          <a:lstStyle/>
          <a:p>
            <a:pPr algn="l">
              <a:spcBef>
                <a:spcPts val="1306"/>
              </a:spcBef>
              <a:spcAft>
                <a:spcPts val="871"/>
              </a:spcAft>
            </a:pPr>
            <a:r>
              <a:rPr lang="en-US" b="0" i="0" dirty="0">
                <a:effectLst/>
                <a:latin typeface="system-ui"/>
              </a:rPr>
              <a:t>AdaBoost Classifier</a:t>
            </a:r>
          </a:p>
        </p:txBody>
      </p:sp>
      <p:sp>
        <p:nvSpPr>
          <p:cNvPr id="15" name="TextBox 14">
            <a:extLst>
              <a:ext uri="{FF2B5EF4-FFF2-40B4-BE49-F238E27FC236}">
                <a16:creationId xmlns:a16="http://schemas.microsoft.com/office/drawing/2014/main" xmlns="" id="{7C5A48B2-2A51-45A5-628B-E4516257F516}"/>
              </a:ext>
            </a:extLst>
          </p:cNvPr>
          <p:cNvSpPr txBox="1"/>
          <p:nvPr/>
        </p:nvSpPr>
        <p:spPr>
          <a:xfrm>
            <a:off x="4279453" y="3967616"/>
            <a:ext cx="2624234" cy="369332"/>
          </a:xfrm>
          <a:prstGeom prst="rect">
            <a:avLst/>
          </a:prstGeom>
          <a:noFill/>
        </p:spPr>
        <p:txBody>
          <a:bodyPr wrap="square">
            <a:spAutoFit/>
          </a:bodyPr>
          <a:lstStyle/>
          <a:p>
            <a:pPr algn="l">
              <a:spcBef>
                <a:spcPts val="1306"/>
              </a:spcBef>
              <a:spcAft>
                <a:spcPts val="871"/>
              </a:spcAft>
            </a:pPr>
            <a:r>
              <a:rPr lang="en-US" b="0" i="0" dirty="0">
                <a:effectLst/>
                <a:latin typeface="system-ui"/>
              </a:rPr>
              <a:t>Decision Tree Classifier</a:t>
            </a:r>
          </a:p>
        </p:txBody>
      </p:sp>
      <p:sp>
        <p:nvSpPr>
          <p:cNvPr id="16" name="TextBox 15">
            <a:extLst>
              <a:ext uri="{FF2B5EF4-FFF2-40B4-BE49-F238E27FC236}">
                <a16:creationId xmlns:a16="http://schemas.microsoft.com/office/drawing/2014/main" xmlns="" id="{62AF5D41-DD2A-27CE-5425-291653FE17D3}"/>
              </a:ext>
            </a:extLst>
          </p:cNvPr>
          <p:cNvSpPr txBox="1"/>
          <p:nvPr/>
        </p:nvSpPr>
        <p:spPr>
          <a:xfrm>
            <a:off x="7903256" y="682819"/>
            <a:ext cx="2624234" cy="369332"/>
          </a:xfrm>
          <a:prstGeom prst="rect">
            <a:avLst/>
          </a:prstGeom>
          <a:noFill/>
        </p:spPr>
        <p:txBody>
          <a:bodyPr wrap="square">
            <a:spAutoFit/>
          </a:bodyPr>
          <a:lstStyle/>
          <a:p>
            <a:pPr algn="l">
              <a:spcBef>
                <a:spcPts val="1306"/>
              </a:spcBef>
              <a:spcAft>
                <a:spcPts val="871"/>
              </a:spcAft>
            </a:pPr>
            <a:r>
              <a:rPr lang="en-US" b="0" i="0" dirty="0">
                <a:effectLst/>
                <a:latin typeface="system-ui"/>
              </a:rPr>
              <a:t>Naïve Bayes Classifier</a:t>
            </a:r>
          </a:p>
        </p:txBody>
      </p:sp>
      <p:sp>
        <p:nvSpPr>
          <p:cNvPr id="17" name="TextBox 16">
            <a:extLst>
              <a:ext uri="{FF2B5EF4-FFF2-40B4-BE49-F238E27FC236}">
                <a16:creationId xmlns:a16="http://schemas.microsoft.com/office/drawing/2014/main" xmlns="" id="{2F81B1C6-DBCC-2033-2BFA-891CA83EEBD5}"/>
              </a:ext>
            </a:extLst>
          </p:cNvPr>
          <p:cNvSpPr txBox="1"/>
          <p:nvPr/>
        </p:nvSpPr>
        <p:spPr>
          <a:xfrm>
            <a:off x="4279453" y="806562"/>
            <a:ext cx="2624234" cy="369332"/>
          </a:xfrm>
          <a:prstGeom prst="rect">
            <a:avLst/>
          </a:prstGeom>
          <a:noFill/>
        </p:spPr>
        <p:txBody>
          <a:bodyPr wrap="square">
            <a:spAutoFit/>
          </a:bodyPr>
          <a:lstStyle/>
          <a:p>
            <a:pPr algn="l">
              <a:spcBef>
                <a:spcPts val="1306"/>
              </a:spcBef>
              <a:spcAft>
                <a:spcPts val="871"/>
              </a:spcAft>
            </a:pPr>
            <a:r>
              <a:rPr lang="en-US" dirty="0">
                <a:latin typeface="system-ui"/>
              </a:rPr>
              <a:t>Random Forest</a:t>
            </a:r>
            <a:r>
              <a:rPr lang="en-US" b="0" i="0" dirty="0">
                <a:effectLst/>
                <a:latin typeface="system-ui"/>
              </a:rPr>
              <a:t> Classifier</a:t>
            </a:r>
          </a:p>
        </p:txBody>
      </p:sp>
    </p:spTree>
    <p:extLst>
      <p:ext uri="{BB962C8B-B14F-4D97-AF65-F5344CB8AC3E}">
        <p14:creationId xmlns:p14="http://schemas.microsoft.com/office/powerpoint/2010/main" val="41339923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6A5E5FDC-6509-F942-2002-BBCF90BC0CDC}"/>
              </a:ext>
            </a:extLst>
          </p:cNvPr>
          <p:cNvSpPr txBox="1"/>
          <p:nvPr/>
        </p:nvSpPr>
        <p:spPr>
          <a:xfrm>
            <a:off x="0" y="4935521"/>
            <a:ext cx="12046226" cy="1323439"/>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Here, we have taken Model building algorithms such as Decision Tree Classifier,  Logistic Regression, SVM, Random , Forest, etc.</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Among these algorithms, 100% Accuracy, Precision, Recall and F1-score have been achieved.</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100% accuracy is achieved by using the model Random Forest, Decision Tree and Gradient Boosting Classifier</a:t>
            </a:r>
            <a:r>
              <a:rPr lang="en-US" sz="1400" dirty="0">
                <a:latin typeface="Century Schoolbook" panose="02040604050505020304" pitchFamily="18" charset="0"/>
              </a:rPr>
              <a:t>.</a:t>
            </a:r>
            <a:endParaRPr lang="en-IN" sz="1400" dirty="0">
              <a:latin typeface="Century Schoolbook" panose="02040604050505020304" pitchFamily="18" charset="0"/>
            </a:endParaRPr>
          </a:p>
        </p:txBody>
      </p:sp>
      <p:sp>
        <p:nvSpPr>
          <p:cNvPr id="9" name="Rectangle: Rounded Corners 8">
            <a:extLst>
              <a:ext uri="{FF2B5EF4-FFF2-40B4-BE49-F238E27FC236}">
                <a16:creationId xmlns:a16="http://schemas.microsoft.com/office/drawing/2014/main" xmlns="" id="{20E3ECD8-D66D-0ABA-27D6-FF29B58BC5C6}"/>
              </a:ext>
            </a:extLst>
          </p:cNvPr>
          <p:cNvSpPr/>
          <p:nvPr/>
        </p:nvSpPr>
        <p:spPr>
          <a:xfrm>
            <a:off x="210441" y="141358"/>
            <a:ext cx="7892497" cy="988681"/>
          </a:xfrm>
          <a:prstGeom prst="roundRect">
            <a:avLst/>
          </a:prstGeom>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en-IN" sz="3200" dirty="0">
                <a:solidFill>
                  <a:schemeClr val="tx1"/>
                </a:solidFill>
                <a:latin typeface="Algerian" panose="04020705040A02060702" pitchFamily="82" charset="0"/>
              </a:rPr>
              <a:t>Models Evaluation</a:t>
            </a:r>
          </a:p>
        </p:txBody>
      </p:sp>
      <p:pic>
        <p:nvPicPr>
          <p:cNvPr id="11" name="Picture 10">
            <a:extLst>
              <a:ext uri="{FF2B5EF4-FFF2-40B4-BE49-F238E27FC236}">
                <a16:creationId xmlns:a16="http://schemas.microsoft.com/office/drawing/2014/main" xmlns="" id="{A58AD4BE-C5B5-2DA3-B767-08E78A57AD4C}"/>
              </a:ext>
            </a:extLst>
          </p:cNvPr>
          <p:cNvPicPr>
            <a:picLocks noChangeAspect="1"/>
          </p:cNvPicPr>
          <p:nvPr/>
        </p:nvPicPr>
        <p:blipFill>
          <a:blip r:embed="rId2"/>
          <a:stretch>
            <a:fillRect/>
          </a:stretch>
        </p:blipFill>
        <p:spPr>
          <a:xfrm>
            <a:off x="415713" y="1214106"/>
            <a:ext cx="7892497" cy="3446835"/>
          </a:xfrm>
          <a:prstGeom prst="rect">
            <a:avLst/>
          </a:prstGeom>
        </p:spPr>
      </p:pic>
    </p:spTree>
    <p:extLst>
      <p:ext uri="{BB962C8B-B14F-4D97-AF65-F5344CB8AC3E}">
        <p14:creationId xmlns:p14="http://schemas.microsoft.com/office/powerpoint/2010/main" val="2237900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D54708CD-C504-B58E-1C49-55121AB8B9BC}"/>
              </a:ext>
            </a:extLst>
          </p:cNvPr>
          <p:cNvSpPr txBox="1"/>
          <p:nvPr/>
        </p:nvSpPr>
        <p:spPr>
          <a:xfrm>
            <a:off x="210441" y="1616602"/>
            <a:ext cx="3251200" cy="3293209"/>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Century Schoolbook" panose="02040604050505020304" pitchFamily="18" charset="0"/>
              </a:rPr>
              <a:t>Here, we have taken Logistics Regression as our Final Model algorithms for the deployment.</a:t>
            </a:r>
          </a:p>
          <a:p>
            <a:pPr marL="285750" indent="-285750">
              <a:buFont typeface="Arial" panose="020B0604020202020204" pitchFamily="34" charset="0"/>
              <a:buChar char="•"/>
            </a:pPr>
            <a:endParaRPr lang="en-US" sz="1600" dirty="0">
              <a:latin typeface="Century Schoolbook" panose="02040604050505020304" pitchFamily="18" charset="0"/>
            </a:endParaRPr>
          </a:p>
          <a:p>
            <a:pPr marL="285750" indent="-285750">
              <a:buFont typeface="Arial" panose="020B0604020202020204" pitchFamily="34" charset="0"/>
              <a:buChar char="•"/>
            </a:pPr>
            <a:r>
              <a:rPr lang="en-US" sz="1600" dirty="0">
                <a:latin typeface="Century Schoolbook" panose="02040604050505020304" pitchFamily="18" charset="0"/>
              </a:rPr>
              <a:t>The algorithm has achieved 100% Accuracy, Precision, Recall and F1-score on testing data.</a:t>
            </a:r>
          </a:p>
          <a:p>
            <a:endParaRPr lang="en-US" sz="1600" dirty="0">
              <a:latin typeface="Century Schoolbook" panose="02040604050505020304" pitchFamily="18" charset="0"/>
            </a:endParaRPr>
          </a:p>
          <a:p>
            <a:pPr marL="285750" indent="-285750">
              <a:buFont typeface="Arial" panose="020B0604020202020204" pitchFamily="34" charset="0"/>
              <a:buChar char="•"/>
            </a:pPr>
            <a:r>
              <a:rPr lang="en-US" sz="1600" dirty="0">
                <a:latin typeface="Century Schoolbook" panose="02040604050505020304" pitchFamily="18" charset="0"/>
              </a:rPr>
              <a:t>We have deployed the Resume Classification using Stream-lit as the platform</a:t>
            </a:r>
            <a:endParaRPr lang="en-IN" sz="1600" dirty="0">
              <a:latin typeface="Century Schoolbook" panose="02040604050505020304" pitchFamily="18" charset="0"/>
            </a:endParaRPr>
          </a:p>
        </p:txBody>
      </p:sp>
      <p:sp>
        <p:nvSpPr>
          <p:cNvPr id="6" name="Rectangle: Rounded Corners 5">
            <a:extLst>
              <a:ext uri="{FF2B5EF4-FFF2-40B4-BE49-F238E27FC236}">
                <a16:creationId xmlns:a16="http://schemas.microsoft.com/office/drawing/2014/main" xmlns="" id="{C71B52A3-2428-8F6B-FE7E-A36028E2446C}"/>
              </a:ext>
            </a:extLst>
          </p:cNvPr>
          <p:cNvSpPr/>
          <p:nvPr/>
        </p:nvSpPr>
        <p:spPr>
          <a:xfrm>
            <a:off x="210441" y="141358"/>
            <a:ext cx="7892497" cy="988681"/>
          </a:xfrm>
          <a:prstGeom prst="roundRect">
            <a:avLst/>
          </a:prstGeom>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en-IN" sz="3200" dirty="0">
                <a:solidFill>
                  <a:schemeClr val="tx1"/>
                </a:solidFill>
                <a:latin typeface="Algerian" panose="04020705040A02060702" pitchFamily="82" charset="0"/>
              </a:rPr>
              <a:t>Deployment</a:t>
            </a:r>
          </a:p>
        </p:txBody>
      </p:sp>
      <p:pic>
        <p:nvPicPr>
          <p:cNvPr id="9" name="Picture 8">
            <a:extLst>
              <a:ext uri="{FF2B5EF4-FFF2-40B4-BE49-F238E27FC236}">
                <a16:creationId xmlns:a16="http://schemas.microsoft.com/office/drawing/2014/main" xmlns="" id="{D1AB911B-1A07-4D90-DB51-B83E90CDAEA4}"/>
              </a:ext>
            </a:extLst>
          </p:cNvPr>
          <p:cNvPicPr>
            <a:picLocks noChangeAspect="1"/>
          </p:cNvPicPr>
          <p:nvPr/>
        </p:nvPicPr>
        <p:blipFill>
          <a:blip r:embed="rId2"/>
          <a:stretch>
            <a:fillRect/>
          </a:stretch>
        </p:blipFill>
        <p:spPr>
          <a:xfrm>
            <a:off x="3461641" y="1288660"/>
            <a:ext cx="8519918" cy="4291046"/>
          </a:xfrm>
          <a:prstGeom prst="rect">
            <a:avLst/>
          </a:prstGeom>
        </p:spPr>
      </p:pic>
    </p:spTree>
    <p:extLst>
      <p:ext uri="{BB962C8B-B14F-4D97-AF65-F5344CB8AC3E}">
        <p14:creationId xmlns:p14="http://schemas.microsoft.com/office/powerpoint/2010/main" val="38620116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E0B9315-0A08-6AD0-ECAB-0312E4D7A37B}"/>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xmlns="" id="{B3AD9D71-4A8C-A600-B5E4-F9CA3425A49D}"/>
              </a:ext>
            </a:extLst>
          </p:cNvPr>
          <p:cNvSpPr/>
          <p:nvPr/>
        </p:nvSpPr>
        <p:spPr>
          <a:xfrm>
            <a:off x="210441" y="141358"/>
            <a:ext cx="7892497" cy="988681"/>
          </a:xfrm>
          <a:prstGeom prst="roundRect">
            <a:avLst/>
          </a:prstGeom>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en-IN" sz="3200" dirty="0">
                <a:solidFill>
                  <a:schemeClr val="tx1"/>
                </a:solidFill>
                <a:latin typeface="Algerian" panose="04020705040A02060702" pitchFamily="82" charset="0"/>
              </a:rPr>
              <a:t>Deployment</a:t>
            </a:r>
          </a:p>
        </p:txBody>
      </p:sp>
      <p:pic>
        <p:nvPicPr>
          <p:cNvPr id="3" name="Picture 2">
            <a:extLst>
              <a:ext uri="{FF2B5EF4-FFF2-40B4-BE49-F238E27FC236}">
                <a16:creationId xmlns:a16="http://schemas.microsoft.com/office/drawing/2014/main" xmlns="" id="{07BD9C3A-E6CA-6B83-4381-738299EA07C2}"/>
              </a:ext>
            </a:extLst>
          </p:cNvPr>
          <p:cNvPicPr>
            <a:picLocks noChangeAspect="1"/>
          </p:cNvPicPr>
          <p:nvPr/>
        </p:nvPicPr>
        <p:blipFill>
          <a:blip r:embed="rId2"/>
          <a:stretch>
            <a:fillRect/>
          </a:stretch>
        </p:blipFill>
        <p:spPr>
          <a:xfrm>
            <a:off x="279672" y="1387878"/>
            <a:ext cx="10338565" cy="5220579"/>
          </a:xfrm>
          <a:prstGeom prst="rect">
            <a:avLst/>
          </a:prstGeom>
        </p:spPr>
      </p:pic>
    </p:spTree>
    <p:extLst>
      <p:ext uri="{BB962C8B-B14F-4D97-AF65-F5344CB8AC3E}">
        <p14:creationId xmlns:p14="http://schemas.microsoft.com/office/powerpoint/2010/main" val="8706354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F938D2B-2054-489A-9BC6-A12AFC714512}"/>
              </a:ext>
            </a:extLst>
          </p:cNvPr>
          <p:cNvSpPr>
            <a:spLocks noGrp="1"/>
          </p:cNvSpPr>
          <p:nvPr>
            <p:ph type="title"/>
          </p:nvPr>
        </p:nvSpPr>
        <p:spPr>
          <a:xfrm>
            <a:off x="881521" y="2711511"/>
            <a:ext cx="8596668" cy="1434977"/>
          </a:xfrm>
        </p:spPr>
        <p:txBody>
          <a:bodyPr>
            <a:normAutofit/>
          </a:bodyPr>
          <a:lstStyle/>
          <a:p>
            <a:pPr algn="ctr"/>
            <a:r>
              <a:rPr lang="en-US" sz="7200" dirty="0"/>
              <a:t>Thank you</a:t>
            </a:r>
            <a:endParaRPr lang="en-IN" sz="7200" dirty="0"/>
          </a:p>
        </p:txBody>
      </p:sp>
    </p:spTree>
    <p:extLst>
      <p:ext uri="{BB962C8B-B14F-4D97-AF65-F5344CB8AC3E}">
        <p14:creationId xmlns:p14="http://schemas.microsoft.com/office/powerpoint/2010/main" val="372060705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725</TotalTime>
  <Words>593</Words>
  <Application>Microsoft Office PowerPoint</Application>
  <PresentationFormat>Custom</PresentationFormat>
  <Paragraphs>82</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Before Stratified Sampling</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set Details and Cleaning</dc:title>
  <dc:creator>Venkat Satya sai</dc:creator>
  <cp:lastModifiedBy>Admin</cp:lastModifiedBy>
  <cp:revision>57</cp:revision>
  <dcterms:created xsi:type="dcterms:W3CDTF">2021-11-03T10:03:37Z</dcterms:created>
  <dcterms:modified xsi:type="dcterms:W3CDTF">2025-12-04T22:22:07Z</dcterms:modified>
</cp:coreProperties>
</file>